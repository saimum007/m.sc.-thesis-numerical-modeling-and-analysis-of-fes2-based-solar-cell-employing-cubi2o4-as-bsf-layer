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4" r:id="rId2"/>
    <p:sldId id="292" r:id="rId3"/>
    <p:sldId id="259" r:id="rId4"/>
    <p:sldId id="280" r:id="rId5"/>
    <p:sldId id="261" r:id="rId6"/>
    <p:sldId id="276" r:id="rId7"/>
    <p:sldId id="263" r:id="rId8"/>
    <p:sldId id="290" r:id="rId9"/>
    <p:sldId id="291" r:id="rId10"/>
    <p:sldId id="277" r:id="rId11"/>
    <p:sldId id="265" r:id="rId12"/>
    <p:sldId id="288" r:id="rId13"/>
    <p:sldId id="267" r:id="rId14"/>
    <p:sldId id="289" r:id="rId15"/>
    <p:sldId id="268" r:id="rId16"/>
    <p:sldId id="269" r:id="rId17"/>
    <p:sldId id="271" r:id="rId18"/>
    <p:sldId id="272" r:id="rId19"/>
    <p:sldId id="273" r:id="rId20"/>
    <p:sldId id="274" r:id="rId21"/>
    <p:sldId id="278" r:id="rId22"/>
    <p:sldId id="28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E6C"/>
    <a:srgbClr val="244171"/>
    <a:srgbClr val="223C6C"/>
    <a:srgbClr val="243F6E"/>
    <a:srgbClr val="E8E8E8"/>
    <a:srgbClr val="00B0F0"/>
    <a:srgbClr val="4472C4"/>
    <a:srgbClr val="FF0000"/>
    <a:srgbClr val="FFC000"/>
    <a:srgbClr val="D7D7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41502-EE88-4F3C-A650-72683809745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C41F1-58B2-42F9-B589-881A7B1CD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62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62BF-7392-5536-F7B6-E95C5A057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93EC0E-0FE1-C953-98E1-5EBF535FD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7698A-F148-9A81-47DB-AF1EDD00D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9242-B487-4186-94CE-84EC5623A28B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13E8A-F6D5-22A2-74A7-E536EC40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5783-5E44-2172-C07B-68B56DBE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7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9483-A021-1A2C-FB7A-64246AE48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57C33-A31C-784B-9B74-8488B86A1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59732-980F-FFB1-0AF3-EF1F27469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A2901-B4A8-4D4D-BB16-19D20DCC86D3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189BF-C784-B290-CDAC-87FB6092B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14CC5-726C-BB13-0F91-414412336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4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A7B4-5068-D17C-1068-707696AD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495EC-F332-7940-7633-86972030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CF48F-7FCF-A98E-F9D2-C515B0D18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2D04A-EDEA-4EEF-8C39-9D9E206BDA03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7594B-32C6-F898-EAD5-03F5BE9DE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AD870-078D-8A8D-F674-D66AAC2E4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71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E178C-6EE4-6831-EBE5-38CBBFE6A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89E45-E900-8CCA-B561-01ABD10540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DF1C3-D428-1DBC-FD6E-7D4D4D026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16C67-B41B-39FE-84B0-70C49AFE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712B6-3A8E-4B48-A983-1CCDA893F041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811DE-F775-273F-859C-E4D63DCDC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8E240-8136-4B89-2037-EC1E2539F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65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C7184-F050-9158-6029-2067860E9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86BEB-226E-EF78-31B8-1F2D4BCA1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3C0CC-2C9B-14F1-371E-FC41C5F8F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6CAD2-9DA1-5E43-B9DC-A29C49EF2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F6BF14-67B2-B68B-938A-775CC4BA0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4BA30-6389-70AB-FAD6-1009E9240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02BB-A672-4FDB-A2DE-0B82BE1B3D92}" type="datetime1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78B594-F7C9-7C9C-404F-5FC7B3D61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3BA4A4-CAE9-4CAE-9D65-9E51FDD65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39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6C36D-33FA-CC08-4931-6B686C23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1B4335-3F02-414E-A985-C4583163F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4A9F9-4565-4C3D-938A-855B4F39FF3A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3847F3-1310-B460-45C0-76670CA8F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8508D-99E1-9D86-26BF-E2660EBAC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62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12D4D8-F48A-2817-DEE5-DEC080213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8096-7A89-4FBC-88BF-6A8C9ACDC86E}" type="datetime1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717F61-EA81-475F-3842-47372EF4E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46E1B-D8AF-9E78-58AF-642C84F5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28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DC50E-826D-7CD2-5FEE-A764D3854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FF404-0D98-D5C8-2259-E3A560BEF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0AEA9-FEEB-0584-3F4C-A78EC3A59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116A9-77B9-EB43-EE8B-1238520E2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DCF9-1C70-4A87-AB64-A2123D7CF73C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7C745-43B4-6B49-7CC4-69CD2707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B84B1-0281-348F-7DA7-10F3526B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37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8393-82C9-CD24-3DE8-9C3DB3631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FD0AF-4DD0-5AFC-EA00-631952107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5964-EEEC-F0DD-FA2B-99A82401B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4B067-CB7D-2229-BA05-9874B156A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CB212-B6B1-4668-8C63-08C8F8D5671B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7F17A-6FC0-9C5A-1D9C-6CB8782BC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A9A9E-7C24-7867-B0DE-1A065760E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8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9A349-A94E-873D-1C3A-E4DCD70A6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4D272-6802-E167-AADF-C5D6C4071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8AAEF-04DC-4B1E-05B1-1BDB767C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76F3-5E22-4345-9666-14105EA605CD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2451A-3902-8CBA-668A-9349E09F3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38BCF-0FCD-9247-9A2B-7F2ABC2B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93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DE55FE-4E14-A41C-8BB3-E20472D8F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255AFD-2D1A-515A-B481-57A7019CD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C6979-F3CB-8BA9-863D-B1632BD3A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6F2C7-45ED-4D85-BC57-A0903840CE58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16B2-3894-917D-119C-65E2AD61B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EE554-3DF4-1885-00B3-9B591FDE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8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34211-FB51-27EB-F5F2-DC91102C4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FDF6F-DEE7-242C-F4A0-829D0F4EC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FBD48-07D6-77D4-B8DC-BE49828B1B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83D23-2915-41A5-8B14-9E98B44110BF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848DC-61DE-BCD1-13F6-C3C6C0EDA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FD5E8-D31F-6ED9-66ED-B650850ED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B57B4-B937-4672-8679-AFEDB5DBF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30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9AF8F5C-F4D6-19C1-6191-CC4F3EF8F5D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9383" y="259363"/>
            <a:ext cx="756321" cy="10013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F58BF3-F88F-2D35-104C-238C234CD763}"/>
              </a:ext>
            </a:extLst>
          </p:cNvPr>
          <p:cNvSpPr txBox="1"/>
          <p:nvPr/>
        </p:nvSpPr>
        <p:spPr>
          <a:xfrm>
            <a:off x="3127739" y="1370054"/>
            <a:ext cx="5939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and Electronic Engineering</a:t>
            </a:r>
          </a:p>
          <a:p>
            <a:pPr algn="ctr"/>
            <a:r>
              <a:rPr lang="en-US" sz="20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 and Technology</a:t>
            </a:r>
          </a:p>
          <a:p>
            <a:pPr algn="ctr"/>
            <a:r>
              <a:rPr lang="en-US" sz="20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Dhaka</a:t>
            </a:r>
            <a:endParaRPr lang="en-US" sz="2400" b="1" dirty="0">
              <a:solidFill>
                <a:srgbClr val="243F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534EE9-850D-179E-99A7-96A1DC3EF54F}"/>
              </a:ext>
            </a:extLst>
          </p:cNvPr>
          <p:cNvSpPr txBox="1"/>
          <p:nvPr/>
        </p:nvSpPr>
        <p:spPr>
          <a:xfrm>
            <a:off x="546387" y="3200664"/>
            <a:ext cx="111023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Performance Study of a Highly </a:t>
            </a:r>
            <a:r>
              <a:rPr lang="en-US" sz="3200" b="1" i="0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Efficient</a:t>
            </a:r>
            <a:r>
              <a:rPr lang="en-US" sz="32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 FeS</a:t>
            </a:r>
            <a:r>
              <a:rPr lang="en-US" sz="3200" b="1" baseline="-250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32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 Based Thin‑film Solar Cell Using </a:t>
            </a:r>
            <a:r>
              <a:rPr lang="en-US" sz="3200" b="1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CuBi</a:t>
            </a:r>
            <a:r>
              <a:rPr lang="en-US" sz="3200" b="1" baseline="-250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3200" b="1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z="3200" b="1" baseline="-250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sz="32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 as a Back Surface Field Layer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C0FF2D-AAD3-4142-BCDC-A5675B0B940C}"/>
              </a:ext>
            </a:extLst>
          </p:cNvPr>
          <p:cNvGrpSpPr/>
          <p:nvPr/>
        </p:nvGrpSpPr>
        <p:grpSpPr>
          <a:xfrm>
            <a:off x="3127739" y="5293545"/>
            <a:ext cx="6382021" cy="1107996"/>
            <a:chOff x="3832441" y="4453850"/>
            <a:chExt cx="6382021" cy="110799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1F6BA7-3ACC-1665-6041-F4A63EF76CC6}"/>
                </a:ext>
              </a:extLst>
            </p:cNvPr>
            <p:cNvSpPr txBox="1"/>
            <p:nvPr/>
          </p:nvSpPr>
          <p:spPr>
            <a:xfrm>
              <a:off x="6074045" y="4453850"/>
              <a:ext cx="4140417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200" b="1" i="0" u="none" strike="noStrike" kern="1200" baseline="0" dirty="0">
                  <a:solidFill>
                    <a:srgbClr val="243F6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Exam Roll No.: </a:t>
              </a:r>
              <a:r>
                <a:rPr lang="en-US" sz="2200" b="1" i="0" u="none" strike="noStrike" kern="1200" baseline="0" dirty="0">
                  <a:solidFill>
                    <a:srgbClr val="243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70406</a:t>
              </a:r>
            </a:p>
            <a:p>
              <a:r>
                <a:rPr lang="en-US" sz="2200" b="1" i="0" u="none" strike="noStrike" kern="1200" baseline="0" dirty="0">
                  <a:solidFill>
                    <a:srgbClr val="243F6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Registration No.: </a:t>
              </a:r>
              <a:r>
                <a:rPr lang="en-US" sz="2200" b="1" i="0" u="none" strike="noStrike" kern="1200" baseline="0" dirty="0">
                  <a:solidFill>
                    <a:srgbClr val="243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2013-012-407</a:t>
              </a:r>
              <a:r>
                <a:rPr lang="en-US" sz="2200" b="1" i="0" u="none" strike="noStrike" kern="1200" baseline="0" dirty="0">
                  <a:solidFill>
                    <a:srgbClr val="243F6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sz="2200" b="1" i="0" u="none" strike="noStrike" kern="1200" baseline="0" dirty="0">
                  <a:solidFill>
                    <a:srgbClr val="243F6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Session: </a:t>
              </a:r>
              <a:r>
                <a:rPr lang="en-US" sz="2200" b="1" i="0" u="none" strike="noStrike" kern="1200" baseline="0" dirty="0">
                  <a:solidFill>
                    <a:srgbClr val="243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2019-2020 </a:t>
              </a:r>
              <a:endParaRPr lang="en-US" sz="2200" b="1" dirty="0">
                <a:solidFill>
                  <a:srgbClr val="243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ABB0F4-850D-E40A-9A9D-B3A9B66B73DC}"/>
                </a:ext>
              </a:extLst>
            </p:cNvPr>
            <p:cNvSpPr txBox="1"/>
            <p:nvPr/>
          </p:nvSpPr>
          <p:spPr>
            <a:xfrm>
              <a:off x="3832441" y="4563180"/>
              <a:ext cx="201902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i="1" u="none" strike="noStrike" kern="1200" baseline="0" dirty="0">
                  <a:solidFill>
                    <a:srgbClr val="243F6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Presented by</a:t>
              </a:r>
              <a:endParaRPr lang="en-US" sz="2000" b="1" dirty="0">
                <a:solidFill>
                  <a:srgbClr val="243F6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523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59368-99C5-4815-BB8B-C0F5D6EA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CB5B-C310-4952-B5B1-D146B4B17309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0D817-D1DB-F557-3162-C8481715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2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909E045-DD85-C206-2757-D1E7E2FA4C02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105780-7656-9BE3-0416-A582E231C6F9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C7F16FE-1655-0879-3482-FB5F7122CB38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E9C419-FE30-73F0-98AE-760A55F8DBF0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2" name="Graphic 11">
                <a:extLst>
                  <a:ext uri="{FF2B5EF4-FFF2-40B4-BE49-F238E27FC236}">
                    <a16:creationId xmlns:a16="http://schemas.microsoft.com/office/drawing/2014/main" id="{30D354DB-BD5F-6B79-3702-167C30FA7F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19" name="Date Placeholder 13">
            <a:extLst>
              <a:ext uri="{FF2B5EF4-FFF2-40B4-BE49-F238E27FC236}">
                <a16:creationId xmlns:a16="http://schemas.microsoft.com/office/drawing/2014/main" id="{D3B5F52F-C9B3-8E1B-8043-F69D155BF581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lide Number Placeholder 14">
            <a:extLst>
              <a:ext uri="{FF2B5EF4-FFF2-40B4-BE49-F238E27FC236}">
                <a16:creationId xmlns:a16="http://schemas.microsoft.com/office/drawing/2014/main" id="{2EF8D161-A2DE-AF5D-9FEF-C21719AAEC8C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9609A0-680C-DF1D-E9E1-551D0B78DF58}"/>
              </a:ext>
            </a:extLst>
          </p:cNvPr>
          <p:cNvSpPr txBox="1"/>
          <p:nvPr/>
        </p:nvSpPr>
        <p:spPr>
          <a:xfrm>
            <a:off x="1403515" y="2571928"/>
            <a:ext cx="3528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AF3A54-F1B5-586C-D2B4-6E2AC2E9861C}"/>
              </a:ext>
            </a:extLst>
          </p:cNvPr>
          <p:cNvSpPr txBox="1"/>
          <p:nvPr/>
        </p:nvSpPr>
        <p:spPr>
          <a:xfrm>
            <a:off x="5910943" y="283192"/>
            <a:ext cx="5107982" cy="5223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5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 Film Solar Cell (TFSC)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5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Ferrous Sulphide (</a:t>
            </a:r>
            <a:r>
              <a:rPr lang="en-US" sz="225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</a:rPr>
              <a:t>FeS</a:t>
            </a:r>
            <a:r>
              <a:rPr lang="en-US" sz="2250" b="1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25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250" b="1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225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5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Back Surface Field &amp; Buffer Layer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5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Proposed Structure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5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 &amp; Methodology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5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5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Optimization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5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5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5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1291422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8EE58F9-428F-8E18-104B-0498473A8B19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6177C-210A-B19D-07D6-E8B925EC3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509829" cy="79882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HIN-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ILM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OLAR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ELL 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(TFSC)</a:t>
            </a:r>
            <a:endParaRPr lang="en-US" sz="28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7BBF2-1693-DEDA-B705-947CE60DEED9}"/>
              </a:ext>
            </a:extLst>
          </p:cNvPr>
          <p:cNvSpPr txBox="1"/>
          <p:nvPr/>
        </p:nvSpPr>
        <p:spPr>
          <a:xfrm>
            <a:off x="312847" y="906095"/>
            <a:ext cx="1169904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CdTe, CIGS, CZTS etc. as an absorber in TFSC have emerged as the most attractive materials for photovoltaic technology.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59368-99C5-4815-BB8B-C0F5D6EA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CB5B-C310-4952-B5B1-D146B4B17309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0D817-D1DB-F557-3162-C8481715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3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909E045-DD85-C206-2757-D1E7E2FA4C02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105780-7656-9BE3-0416-A582E231C6F9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C7F16FE-1655-0879-3482-FB5F7122CB38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E9C419-FE30-73F0-98AE-760A55F8DBF0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2" name="Graphic 11">
                <a:extLst>
                  <a:ext uri="{FF2B5EF4-FFF2-40B4-BE49-F238E27FC236}">
                    <a16:creationId xmlns:a16="http://schemas.microsoft.com/office/drawing/2014/main" id="{30D354DB-BD5F-6B79-3702-167C30FA7F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19" name="Date Placeholder 13">
            <a:extLst>
              <a:ext uri="{FF2B5EF4-FFF2-40B4-BE49-F238E27FC236}">
                <a16:creationId xmlns:a16="http://schemas.microsoft.com/office/drawing/2014/main" id="{D3B5F52F-C9B3-8E1B-8043-F69D155BF581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lide Number Placeholder 14">
            <a:extLst>
              <a:ext uri="{FF2B5EF4-FFF2-40B4-BE49-F238E27FC236}">
                <a16:creationId xmlns:a16="http://schemas.microsoft.com/office/drawing/2014/main" id="{2EF8D161-A2DE-AF5D-9FEF-C21719AAEC8C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AC23C8-D78A-6160-0B33-34726B75BC03}"/>
              </a:ext>
            </a:extLst>
          </p:cNvPr>
          <p:cNvSpPr txBox="1"/>
          <p:nvPr/>
        </p:nvSpPr>
        <p:spPr>
          <a:xfrm>
            <a:off x="838200" y="1676417"/>
            <a:ext cx="616527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DVANTAGES: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efficiency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Fabrication compatibility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 Stability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Energy gap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C20366-59C1-E7C0-61E7-BA09F544DEB5}"/>
              </a:ext>
            </a:extLst>
          </p:cNvPr>
          <p:cNvSpPr txBox="1"/>
          <p:nvPr/>
        </p:nvSpPr>
        <p:spPr>
          <a:xfrm>
            <a:off x="312847" y="3597470"/>
            <a:ext cx="103701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absorber materials in TFSCs still face issues.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ADC601-0C19-4401-C8C6-0DBBC4B24CB3}"/>
              </a:ext>
            </a:extLst>
          </p:cNvPr>
          <p:cNvSpPr txBox="1"/>
          <p:nvPr/>
        </p:nvSpPr>
        <p:spPr>
          <a:xfrm>
            <a:off x="838200" y="4044837"/>
            <a:ext cx="616527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ROBLEMS: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Scarcity of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material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device fabrication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Toxicity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3885DB0-0CF8-DE65-C9CE-5C66670CC14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8" r="53293"/>
          <a:stretch/>
        </p:blipFill>
        <p:spPr>
          <a:xfrm>
            <a:off x="7566627" y="2031999"/>
            <a:ext cx="3435927" cy="312076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E87D318-E7AF-D885-69AA-6F0EF0A8A406}"/>
              </a:ext>
            </a:extLst>
          </p:cNvPr>
          <p:cNvSpPr txBox="1"/>
          <p:nvPr/>
        </p:nvSpPr>
        <p:spPr>
          <a:xfrm>
            <a:off x="6693461" y="5288922"/>
            <a:ext cx="5182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1:</a:t>
            </a:r>
            <a:r>
              <a:rPr lang="en-US" sz="2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Typical TFSC with different Layer</a:t>
            </a:r>
            <a:r>
              <a:rPr lang="en-US" sz="2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</a:t>
            </a: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].</a:t>
            </a:r>
            <a:endParaRPr lang="en-US" sz="2000" dirty="0">
              <a:solidFill>
                <a:srgbClr val="243F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7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  <p:bldP spid="17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0FFB267-C1E7-DF9D-7BFE-A11E27535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95" y="2386699"/>
            <a:ext cx="6600825" cy="30799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ROPERTIES:</a:t>
            </a:r>
          </a:p>
          <a:p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absorbance 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200" b="1" baseline="30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cm</a:t>
            </a:r>
            <a:r>
              <a:rPr lang="en-US" sz="2200" b="1" baseline="30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hv &gt; 1.3 eV) </a:t>
            </a:r>
          </a:p>
          <a:p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Lattice constant of 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5.416 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</a:p>
          <a:p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Narrow bandgap 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0.8-0.95 eV </a:t>
            </a:r>
          </a:p>
          <a:p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Abundant and Non-toxic</a:t>
            </a:r>
          </a:p>
          <a:p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Deposition technique: 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Sulfurization, Sputting, MBE, CVD, Spin Coating </a:t>
            </a: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F59C297-93C1-3033-E1F3-939016C75C35}"/>
              </a:ext>
            </a:extLst>
          </p:cNvPr>
          <p:cNvGrpSpPr/>
          <p:nvPr/>
        </p:nvGrpSpPr>
        <p:grpSpPr>
          <a:xfrm>
            <a:off x="7439025" y="2601837"/>
            <a:ext cx="4300327" cy="2622009"/>
            <a:chOff x="5842261" y="673762"/>
            <a:chExt cx="7326626" cy="347820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AEB6A08-AF93-38F4-EA0F-0216D1D185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587" r="8766"/>
            <a:stretch/>
          </p:blipFill>
          <p:spPr bwMode="auto">
            <a:xfrm>
              <a:off x="7494165" y="673762"/>
              <a:ext cx="4022814" cy="276509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FF2C6DA-B429-19A5-5F36-D7756C652258}"/>
                </a:ext>
              </a:extLst>
            </p:cNvPr>
            <p:cNvSpPr txBox="1"/>
            <p:nvPr/>
          </p:nvSpPr>
          <p:spPr>
            <a:xfrm>
              <a:off x="5842261" y="3601346"/>
              <a:ext cx="7326626" cy="5506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Figure 2:</a:t>
              </a:r>
              <a:r>
                <a:rPr lang="en-US" sz="2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Crystal Structure of FeS</a:t>
              </a:r>
              <a:r>
                <a:rPr lang="en-US" sz="20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r>
                <a:rPr lang="en-US" sz="2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[</a:t>
              </a:r>
              <a:r>
                <a:rPr lang="en-US" sz="2000" dirty="0">
                  <a:solidFill>
                    <a:srgbClr val="243F6E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r>
                <a:rPr lang="en-US" sz="2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].</a:t>
              </a:r>
              <a:endParaRPr lang="en-US" sz="2000" dirty="0">
                <a:solidFill>
                  <a:srgbClr val="243F6E"/>
                </a:solidFill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51997-ED9C-9DEB-5300-2734EC753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23E86-872B-40FF-A84B-9FA6A1EF2180}" type="datetime1">
              <a:rPr lang="en-US" smtClean="0"/>
              <a:t>1/11/2026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72B01-BE36-4526-6D7B-9EBD6392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E1DAEB-B498-8427-56D2-7DC738FAE2CC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7AB3D5-CD9C-10FD-0E2D-92CE7A8DD1FE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CB1FDAD-1718-ED6F-CA85-D0F417FCEB65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6EC09D-9213-D69C-1A60-55C93E9C1780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0281D0B1-F120-23FE-CFE4-3094468C67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4C01969-D13C-CFF3-373D-7A3C2AE28EFB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0F45CD1-E928-1619-7A60-C848B26435F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509829" cy="798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ERROUS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ULPHIDE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i="0" u="none" strike="noStrike" baseline="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FeS</a:t>
            </a:r>
            <a:r>
              <a:rPr lang="en-US" sz="2800" b="1" baseline="-250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Date Placeholder 13">
            <a:extLst>
              <a:ext uri="{FF2B5EF4-FFF2-40B4-BE49-F238E27FC236}">
                <a16:creationId xmlns:a16="http://schemas.microsoft.com/office/drawing/2014/main" id="{6F59DC83-B22E-D468-F396-D1DA024C6692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lide Number Placeholder 14">
            <a:extLst>
              <a:ext uri="{FF2B5EF4-FFF2-40B4-BE49-F238E27FC236}">
                <a16:creationId xmlns:a16="http://schemas.microsoft.com/office/drawing/2014/main" id="{AA59F111-13D0-7219-50EF-4F95C2F99490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180026-EAA3-E400-1684-E953617EF3C4}"/>
              </a:ext>
            </a:extLst>
          </p:cNvPr>
          <p:cNvSpPr txBox="1"/>
          <p:nvPr/>
        </p:nvSpPr>
        <p:spPr>
          <a:xfrm>
            <a:off x="340818" y="1108801"/>
            <a:ext cx="108281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FeS</a:t>
            </a:r>
            <a:r>
              <a:rPr lang="en-US" sz="2800" b="1" baseline="-250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be one of the ideal candidate as an absorber layer in TFSC </a:t>
            </a:r>
          </a:p>
          <a:p>
            <a:pPr algn="ctr"/>
            <a:r>
              <a:rPr lang="en-US" sz="28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it is also called as “</a:t>
            </a:r>
            <a:r>
              <a:rPr lang="en-US" sz="2800" b="1" i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Fool’s Gold</a:t>
            </a:r>
            <a:r>
              <a:rPr lang="en-US" sz="28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)</a:t>
            </a:r>
            <a:r>
              <a:rPr lang="en-US" sz="2800" b="1" i="0" u="none" strike="noStrike" baseline="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endParaRPr lang="en-US" sz="2800" b="1" dirty="0">
              <a:solidFill>
                <a:srgbClr val="243F6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460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78209CD-688C-8412-1D38-AC3F542194F9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B9AEB6-2B32-4E2F-3A7D-FAE663235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0297" y="1339916"/>
            <a:ext cx="5142349" cy="34952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32CD4A-02ED-95B7-9DC0-35B775B0316B}"/>
              </a:ext>
            </a:extLst>
          </p:cNvPr>
          <p:cNvSpPr txBox="1"/>
          <p:nvPr/>
        </p:nvSpPr>
        <p:spPr>
          <a:xfrm>
            <a:off x="5910946" y="4938179"/>
            <a:ext cx="6281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3: </a:t>
            </a: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Comparison of Various PV Materials [3].</a:t>
            </a:r>
            <a:endParaRPr lang="en-SG" sz="2000" dirty="0">
              <a:solidFill>
                <a:srgbClr val="243F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0727AB6-C18B-A467-1DAD-6E484591D9F6}"/>
              </a:ext>
            </a:extLst>
          </p:cNvPr>
          <p:cNvSpPr txBox="1">
            <a:spLocks/>
          </p:cNvSpPr>
          <p:nvPr/>
        </p:nvSpPr>
        <p:spPr>
          <a:xfrm>
            <a:off x="193869" y="2502693"/>
            <a:ext cx="5947754" cy="2410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 b="1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Energy for Extraction: </a:t>
            </a:r>
            <a:r>
              <a:rPr lang="en-US" sz="22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24 kWh/kg</a:t>
            </a:r>
            <a:r>
              <a:rPr lang="en-US" sz="2200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 for </a:t>
            </a:r>
            <a:r>
              <a:rPr lang="en-US" sz="22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Si  </a:t>
            </a:r>
            <a:r>
              <a:rPr lang="en-US" sz="2200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vs</a:t>
            </a:r>
            <a:r>
              <a:rPr lang="en-US" sz="22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 2 kWh/kg</a:t>
            </a:r>
            <a:r>
              <a:rPr lang="en-US" sz="2200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 for </a:t>
            </a:r>
            <a:r>
              <a:rPr lang="en-US" sz="22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FeS</a:t>
            </a:r>
            <a:r>
              <a:rPr lang="en-US" sz="2200" b="1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sz="2200" i="0" u="none" strike="noStrike" baseline="0" dirty="0">
              <a:solidFill>
                <a:srgbClr val="243F6E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b="1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Cost of Extraction: </a:t>
            </a:r>
            <a:r>
              <a:rPr lang="en-US" sz="22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$1.70 per kg </a:t>
            </a:r>
            <a:r>
              <a:rPr lang="en-US" sz="2200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for </a:t>
            </a:r>
            <a:r>
              <a:rPr lang="en-US" sz="22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Si</a:t>
            </a:r>
            <a:r>
              <a:rPr lang="en-US" sz="2200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 vs </a:t>
            </a:r>
            <a:r>
              <a:rPr lang="en-US" sz="22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$0.03 per kg </a:t>
            </a:r>
            <a:r>
              <a:rPr lang="en-US" sz="2200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for </a:t>
            </a:r>
            <a:r>
              <a:rPr lang="en-US" sz="22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FeS</a:t>
            </a:r>
            <a:r>
              <a:rPr lang="en-US" sz="2200" b="1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200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 [3]</a:t>
            </a:r>
            <a:endParaRPr lang="en-US" sz="2200" dirty="0">
              <a:solidFill>
                <a:srgbClr val="243F6E"/>
              </a:solidFill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F38BBA-A9F9-B52D-5B07-CF02B0DD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A01E-A9AB-4685-81FC-C3025D8FB341}" type="datetime1">
              <a:rPr lang="en-US" smtClean="0"/>
              <a:t>1/11/2026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194D9C-481A-CB01-D011-4E85D366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5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13B9C2-E4E1-8A94-C441-603B7B1FC5D7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524590B-8C1B-058B-D9F8-6397DC0AE05C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33E21D8-DCEC-25C3-C199-4153E7F46649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895B79-0492-07CD-4422-51E179CA9F9C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239DB471-9C13-306D-942A-52B9E907CA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A7C5D7E5-1209-596B-6D0B-E5757B9F211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509829" cy="798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ERROUS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ULPHIDE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i="0" u="none" strike="noStrike" baseline="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FeS</a:t>
            </a:r>
            <a:r>
              <a:rPr lang="en-US" sz="2800" b="1" baseline="-250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Date Placeholder 13">
            <a:extLst>
              <a:ext uri="{FF2B5EF4-FFF2-40B4-BE49-F238E27FC236}">
                <a16:creationId xmlns:a16="http://schemas.microsoft.com/office/drawing/2014/main" id="{2DADB3B4-E712-5238-83E1-647B3B8C238A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lide Number Placeholder 14">
            <a:extLst>
              <a:ext uri="{FF2B5EF4-FFF2-40B4-BE49-F238E27FC236}">
                <a16:creationId xmlns:a16="http://schemas.microsoft.com/office/drawing/2014/main" id="{3DEF8CF1-05E6-7CC8-C8D0-8204F9D82054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48ACDA-8228-7D4E-EAE1-D8233CF0D13A}"/>
              </a:ext>
            </a:extLst>
          </p:cNvPr>
          <p:cNvSpPr txBox="1"/>
          <p:nvPr/>
        </p:nvSpPr>
        <p:spPr>
          <a:xfrm>
            <a:off x="315114" y="1074917"/>
            <a:ext cx="5142350" cy="122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“</a:t>
            </a:r>
            <a:r>
              <a:rPr lang="en-US" sz="28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L</a:t>
            </a:r>
            <a:r>
              <a:rPr lang="en-US" sz="24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OW </a:t>
            </a:r>
            <a:r>
              <a:rPr lang="en-US" sz="28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P</a:t>
            </a:r>
            <a:r>
              <a:rPr lang="en-US" sz="24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RODUCTION </a:t>
            </a:r>
            <a:r>
              <a:rPr lang="en-US" sz="28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C</a:t>
            </a:r>
            <a:r>
              <a:rPr lang="en-US" sz="24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OST”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(Most Attractive </a:t>
            </a:r>
            <a:r>
              <a:rPr lang="en-US" sz="2400" b="1" dirty="0">
                <a:solidFill>
                  <a:srgbClr val="243F6E"/>
                </a:solidFill>
                <a:latin typeface="Times New Roman" panose="02020603050405020304" pitchFamily="18" charset="0"/>
              </a:rPr>
              <a:t>F</a:t>
            </a:r>
            <a:r>
              <a:rPr lang="en-US" sz="24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eature of FeS</a:t>
            </a:r>
            <a:r>
              <a:rPr lang="en-US" sz="2400" b="1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400" b="1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)</a:t>
            </a:r>
            <a:r>
              <a:rPr lang="en-US" sz="2400" i="0" u="none" strike="noStrike" baseline="0" dirty="0">
                <a:solidFill>
                  <a:srgbClr val="243F6E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" name="Down Arrow 2"/>
          <p:cNvSpPr/>
          <p:nvPr/>
        </p:nvSpPr>
        <p:spPr>
          <a:xfrm>
            <a:off x="11268819" y="2502693"/>
            <a:ext cx="241010" cy="824707"/>
          </a:xfrm>
          <a:prstGeom prst="downArrow">
            <a:avLst>
              <a:gd name="adj1" fmla="val 50000"/>
              <a:gd name="adj2" fmla="val 11323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6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7" grpId="0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6A8C95A-C208-B7E1-D6A5-F11C64EB4BE4}"/>
              </a:ext>
            </a:extLst>
          </p:cNvPr>
          <p:cNvSpPr txBox="1"/>
          <p:nvPr/>
        </p:nvSpPr>
        <p:spPr>
          <a:xfrm>
            <a:off x="723897" y="1004821"/>
            <a:ext cx="10544922" cy="4694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IMITATION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Open-circuit Voltage (Voc) </a:t>
            </a: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does not exceed 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mV or ∼20% </a:t>
            </a: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its band gap leading to a practical efficiency of 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~3% </a:t>
            </a: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Sulphur vacancies caused by the S dimer (S-S bond length)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Bulk or near surface Non-stoichiometry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 gap defects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Thermionic-field emission and 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Dark Current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Metallic like sulfur layer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9E394-3522-6F27-C0CA-7AA4E31AB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DC3DF-0BDD-45F5-9BDD-A9A6FF8B0BE1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E5ADB-F3BF-93B6-0729-01E9832A8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6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4EED714-FAF5-4E6D-1B99-46F15F405EED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9721F02-D7F7-BC94-957A-D71ED89C3A02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CC16697-91E3-E6DD-95EA-408B5C776302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EC526F0-63A0-6421-F3E3-34F8247CEEAE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F927C73F-CAFD-95DF-A585-D3383E3DD3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036833E-98D7-9CDC-CDAD-CE0528237F6B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FEA6762-4363-83D4-EB95-48FE5F33BC8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509829" cy="798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ERROUS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ULPHIDE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i="0" u="none" strike="noStrike" baseline="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FeS</a:t>
            </a:r>
            <a:r>
              <a:rPr lang="en-US" sz="2800" b="1" baseline="-250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Date Placeholder 13">
            <a:extLst>
              <a:ext uri="{FF2B5EF4-FFF2-40B4-BE49-F238E27FC236}">
                <a16:creationId xmlns:a16="http://schemas.microsoft.com/office/drawing/2014/main" id="{E1508CF7-C2AC-7C69-BC40-803A4B2346F9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lide Number Placeholder 14">
            <a:extLst>
              <a:ext uri="{FF2B5EF4-FFF2-40B4-BE49-F238E27FC236}">
                <a16:creationId xmlns:a16="http://schemas.microsoft.com/office/drawing/2014/main" id="{D7AE2E46-4DB3-96E5-C7C5-10D608F8273D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585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98DEB9B-9FDA-1CD5-31CC-190BEA4E3D46}"/>
              </a:ext>
            </a:extLst>
          </p:cNvPr>
          <p:cNvSpPr txBox="1"/>
          <p:nvPr/>
        </p:nvSpPr>
        <p:spPr>
          <a:xfrm>
            <a:off x="369322" y="1043683"/>
            <a:ext cx="5541624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CuBi</a:t>
            </a:r>
            <a:r>
              <a:rPr lang="en-US" sz="2400" b="1" baseline="-25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z="2400" b="1" baseline="-25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(Back Surface Field Layer)</a:t>
            </a:r>
          </a:p>
          <a:p>
            <a:endParaRPr lang="en-US" sz="2000" b="1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PROPERTIES:</a:t>
            </a:r>
            <a:endParaRPr lang="en-US" sz="2000" dirty="0">
              <a:solidFill>
                <a:srgbClr val="243F6E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Lattice constant of </a:t>
            </a:r>
            <a:r>
              <a:rPr lang="en-US" sz="2000" b="1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5.814 </a:t>
            </a:r>
            <a:r>
              <a:rPr lang="en-US" sz="20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nergy band gap of </a:t>
            </a:r>
            <a:r>
              <a:rPr lang="en-US" sz="20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1.4 </a:t>
            </a:r>
            <a:r>
              <a:rPr lang="en-US" sz="2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1.8 eV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ptical absorption coefficient of  </a:t>
            </a:r>
            <a:r>
              <a:rPr lang="en-US" sz="20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b="1" baseline="30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cm</a:t>
            </a:r>
            <a:r>
              <a:rPr lang="en-US" sz="2000" b="1" baseline="30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0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 dirty="0">
              <a:solidFill>
                <a:srgbClr val="243F6E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Non-toxic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Deposition technique: </a:t>
            </a:r>
            <a:r>
              <a:rPr lang="en-US" sz="20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Hydrothermal Synthesis, Pulsed Laser Deposition, CVD, MBE, Spin-coating etc.</a:t>
            </a: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[4]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1F1F66-C9C2-129B-A2E8-E7E208292FFC}"/>
              </a:ext>
            </a:extLst>
          </p:cNvPr>
          <p:cNvSpPr txBox="1"/>
          <p:nvPr/>
        </p:nvSpPr>
        <p:spPr>
          <a:xfrm>
            <a:off x="5910946" y="1043683"/>
            <a:ext cx="5822010" cy="425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GaAs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(Buffer Layer)</a:t>
            </a:r>
          </a:p>
          <a:p>
            <a:endParaRPr lang="en-US" sz="2000" b="1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PROPERTIES:</a:t>
            </a:r>
            <a:endParaRPr lang="en-US" sz="2000" dirty="0">
              <a:solidFill>
                <a:srgbClr val="243F6E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Lattice constant of </a:t>
            </a:r>
            <a:r>
              <a:rPr lang="en-US" sz="2000" b="1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5.653 </a:t>
            </a:r>
            <a:r>
              <a:rPr lang="en-US" sz="20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sz="2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nergy band gap of </a:t>
            </a:r>
            <a:r>
              <a:rPr lang="en-US" sz="20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1.424 eV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Non-toxic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High-efficiency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cost solar cells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Deposition technique: </a:t>
            </a:r>
            <a:r>
              <a:rPr lang="en-US" sz="20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Sputting, MBE, CVD, Spin Coating</a:t>
            </a: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etc. [5]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7EA22-048A-5541-9B1E-2CBEC076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A381-057D-466D-949E-52B893224B10}" type="datetime1">
              <a:rPr lang="en-US" smtClean="0"/>
              <a:t>1/11/2026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DF3810-B03A-6B09-A671-3DDCE29E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7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62A888A-461C-6F3E-C399-286232DAB03F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71443F9-42A0-EE56-7251-466314490FA3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230C98B-25C6-8B2C-F857-9177AF083944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86DCB6-8357-4117-0C0A-A3EF40C80642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5DE6F0B2-97B8-945E-298F-F1BD5289F5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23" name="Date Placeholder 13">
            <a:extLst>
              <a:ext uri="{FF2B5EF4-FFF2-40B4-BE49-F238E27FC236}">
                <a16:creationId xmlns:a16="http://schemas.microsoft.com/office/drawing/2014/main" id="{50E7A133-7962-52FA-5EB1-29D128628F2B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lide Number Placeholder 14">
            <a:extLst>
              <a:ext uri="{FF2B5EF4-FFF2-40B4-BE49-F238E27FC236}">
                <a16:creationId xmlns:a16="http://schemas.microsoft.com/office/drawing/2014/main" id="{E165C853-5F2C-4FC8-0A38-B9BC7CFA0A32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839C4F-8ADD-662D-1385-1E4B5615EB97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C5A88B1-A690-4178-EF0C-5484BBF7A81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509829" cy="798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ACK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URFACE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IELD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UFFER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AYER</a:t>
            </a:r>
          </a:p>
        </p:txBody>
      </p:sp>
    </p:spTree>
    <p:extLst>
      <p:ext uri="{BB962C8B-B14F-4D97-AF65-F5344CB8AC3E}">
        <p14:creationId xmlns:p14="http://schemas.microsoft.com/office/powerpoint/2010/main" val="174190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718B01F4-443E-6D88-9EAC-A567717E3D22}"/>
              </a:ext>
            </a:extLst>
          </p:cNvPr>
          <p:cNvGrpSpPr/>
          <p:nvPr/>
        </p:nvGrpSpPr>
        <p:grpSpPr>
          <a:xfrm>
            <a:off x="365216" y="1077634"/>
            <a:ext cx="5212727" cy="3825450"/>
            <a:chOff x="-271851" y="0"/>
            <a:chExt cx="5885966" cy="2585089"/>
          </a:xfrm>
        </p:grpSpPr>
        <p:sp>
          <p:nvSpPr>
            <p:cNvPr id="26" name="Text Box 135">
              <a:extLst>
                <a:ext uri="{FF2B5EF4-FFF2-40B4-BE49-F238E27FC236}">
                  <a16:creationId xmlns:a16="http://schemas.microsoft.com/office/drawing/2014/main" id="{1A063E7E-F6D0-837D-9652-97EDA86F9D7F}"/>
                </a:ext>
              </a:extLst>
            </p:cNvPr>
            <p:cNvSpPr txBox="1"/>
            <p:nvPr/>
          </p:nvSpPr>
          <p:spPr>
            <a:xfrm>
              <a:off x="-271851" y="1535178"/>
              <a:ext cx="2144297" cy="426767"/>
            </a:xfrm>
            <a:prstGeom prst="rect">
              <a:avLst/>
            </a:prstGeom>
            <a:solidFill>
              <a:srgbClr val="D7D7D7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Back Surface Field (BSF) Layer</a:t>
              </a:r>
              <a:endParaRPr lang="en-US" sz="16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132">
              <a:extLst>
                <a:ext uri="{FF2B5EF4-FFF2-40B4-BE49-F238E27FC236}">
                  <a16:creationId xmlns:a16="http://schemas.microsoft.com/office/drawing/2014/main" id="{E08A2B3E-588D-2A9A-9120-1155BC2AB491}"/>
                </a:ext>
              </a:extLst>
            </p:cNvPr>
            <p:cNvSpPr txBox="1"/>
            <p:nvPr/>
          </p:nvSpPr>
          <p:spPr>
            <a:xfrm>
              <a:off x="-204858" y="533062"/>
              <a:ext cx="2144298" cy="319680"/>
            </a:xfrm>
            <a:prstGeom prst="rect">
              <a:avLst/>
            </a:prstGeom>
            <a:solidFill>
              <a:srgbClr val="D7D7D7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Anti-reflection Coating</a:t>
              </a:r>
              <a:endParaRPr lang="en-US" sz="16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130">
              <a:extLst>
                <a:ext uri="{FF2B5EF4-FFF2-40B4-BE49-F238E27FC236}">
                  <a16:creationId xmlns:a16="http://schemas.microsoft.com/office/drawing/2014/main" id="{9A6A5DA7-266E-C55D-4F22-A89442D40D95}"/>
                </a:ext>
              </a:extLst>
            </p:cNvPr>
            <p:cNvSpPr txBox="1"/>
            <p:nvPr/>
          </p:nvSpPr>
          <p:spPr>
            <a:xfrm>
              <a:off x="45237" y="198691"/>
              <a:ext cx="1671943" cy="334370"/>
            </a:xfrm>
            <a:prstGeom prst="rect">
              <a:avLst/>
            </a:prstGeom>
            <a:solidFill>
              <a:srgbClr val="D7D7D7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Front Contact</a:t>
              </a:r>
              <a:endParaRPr lang="en-US" sz="16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F846AAB-26AB-F8B7-3BB2-52FF827E5BBF}"/>
                </a:ext>
              </a:extLst>
            </p:cNvPr>
            <p:cNvGrpSpPr/>
            <p:nvPr/>
          </p:nvGrpSpPr>
          <p:grpSpPr>
            <a:xfrm>
              <a:off x="1852309" y="0"/>
              <a:ext cx="3761806" cy="2585089"/>
              <a:chOff x="1852309" y="0"/>
              <a:chExt cx="3761806" cy="2585089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4641B6F8-E40D-C27C-8893-73B25A02A493}"/>
                  </a:ext>
                </a:extLst>
              </p:cNvPr>
              <p:cNvGrpSpPr/>
              <p:nvPr/>
            </p:nvGrpSpPr>
            <p:grpSpPr>
              <a:xfrm>
                <a:off x="2080340" y="0"/>
                <a:ext cx="3533775" cy="2585089"/>
                <a:chOff x="2080340" y="0"/>
                <a:chExt cx="2773119" cy="4066539"/>
              </a:xfrm>
            </p:grpSpPr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E70FD260-97D5-116E-4BFE-018EE619DD99}"/>
                    </a:ext>
                  </a:extLst>
                </p:cNvPr>
                <p:cNvSpPr/>
                <p:nvPr/>
              </p:nvSpPr>
              <p:spPr>
                <a:xfrm>
                  <a:off x="2080340" y="3295649"/>
                  <a:ext cx="2773119" cy="770890"/>
                </a:xfrm>
                <a:prstGeom prst="cube">
                  <a:avLst/>
                </a:prstGeom>
                <a:solidFill>
                  <a:srgbClr val="92D05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b="1">
                      <a:solidFill>
                        <a:srgbClr val="243F6E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Glass</a:t>
                  </a:r>
                  <a:endParaRPr lang="en-US">
                    <a:solidFill>
                      <a:srgbClr val="243F6E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43EB4015-FF75-BF6E-6CC2-4093005F2851}"/>
                    </a:ext>
                  </a:extLst>
                </p:cNvPr>
                <p:cNvSpPr/>
                <p:nvPr/>
              </p:nvSpPr>
              <p:spPr>
                <a:xfrm>
                  <a:off x="2080341" y="2716002"/>
                  <a:ext cx="1924935" cy="771277"/>
                </a:xfrm>
                <a:prstGeom prst="cube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b="1">
                      <a:solidFill>
                        <a:srgbClr val="243F6E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Mo</a:t>
                  </a:r>
                  <a:endParaRPr lang="en-US">
                    <a:solidFill>
                      <a:srgbClr val="243F6E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FFCAD09A-3601-67FE-6A8D-30610EA214ED}"/>
                    </a:ext>
                  </a:extLst>
                </p:cNvPr>
                <p:cNvSpPr/>
                <p:nvPr/>
              </p:nvSpPr>
              <p:spPr>
                <a:xfrm>
                  <a:off x="2080341" y="2186005"/>
                  <a:ext cx="1924934" cy="735648"/>
                </a:xfrm>
                <a:prstGeom prst="cube">
                  <a:avLst/>
                </a:prstGeom>
                <a:solidFill>
                  <a:srgbClr val="FFC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b="1" dirty="0">
                      <a:solidFill>
                        <a:srgbClr val="243F6E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CuBi</a:t>
                  </a:r>
                  <a:r>
                    <a:rPr lang="en-US" b="1" baseline="-25000" dirty="0">
                      <a:solidFill>
                        <a:srgbClr val="243F6E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b="1" dirty="0">
                      <a:solidFill>
                        <a:srgbClr val="243F6E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b="1" baseline="-25000" dirty="0">
                      <a:solidFill>
                        <a:srgbClr val="243F6E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4</a:t>
                  </a:r>
                  <a:endParaRPr lang="en-US" dirty="0">
                    <a:solidFill>
                      <a:srgbClr val="243F6E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0BC193E2-A890-BCB3-EEF2-A9FEFBDF420F}"/>
                    </a:ext>
                  </a:extLst>
                </p:cNvPr>
                <p:cNvSpPr/>
                <p:nvPr/>
              </p:nvSpPr>
              <p:spPr>
                <a:xfrm>
                  <a:off x="2080340" y="1650213"/>
                  <a:ext cx="1924935" cy="723983"/>
                </a:xfrm>
                <a:prstGeom prst="cube">
                  <a:avLst/>
                </a:prstGeom>
                <a:solidFill>
                  <a:srgbClr val="FF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b="1" dirty="0">
                      <a:solidFill>
                        <a:srgbClr val="243F6E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FeS</a:t>
                  </a:r>
                  <a:r>
                    <a:rPr lang="en-US" b="1" baseline="-25000" dirty="0">
                      <a:solidFill>
                        <a:srgbClr val="243F6E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  <a:endParaRPr lang="en-US" dirty="0">
                    <a:solidFill>
                      <a:srgbClr val="243F6E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3F719ECE-EFF6-302E-FD33-8A6BD0AA586E}"/>
                    </a:ext>
                  </a:extLst>
                </p:cNvPr>
                <p:cNvSpPr/>
                <p:nvPr/>
              </p:nvSpPr>
              <p:spPr>
                <a:xfrm>
                  <a:off x="2080341" y="1131122"/>
                  <a:ext cx="1924934" cy="711447"/>
                </a:xfrm>
                <a:prstGeom prst="cube">
                  <a:avLst/>
                </a:prstGeom>
                <a:solidFill>
                  <a:srgbClr val="4472C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b="1" dirty="0">
                      <a:solidFill>
                        <a:srgbClr val="243F6E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GaAs</a:t>
                  </a:r>
                  <a:endParaRPr lang="en-US" dirty="0">
                    <a:solidFill>
                      <a:srgbClr val="243F6E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F775F101-9FE2-AD11-EAF5-2030BFAF9239}"/>
                    </a:ext>
                  </a:extLst>
                </p:cNvPr>
                <p:cNvSpPr/>
                <p:nvPr/>
              </p:nvSpPr>
              <p:spPr>
                <a:xfrm>
                  <a:off x="2080341" y="580064"/>
                  <a:ext cx="1924934" cy="725200"/>
                </a:xfrm>
                <a:prstGeom prst="cube">
                  <a:avLst/>
                </a:prstGeom>
                <a:solidFill>
                  <a:srgbClr val="00B0F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b="1" dirty="0">
                      <a:solidFill>
                        <a:srgbClr val="243F6E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FTO</a:t>
                  </a:r>
                  <a:endParaRPr lang="en-US" dirty="0">
                    <a:solidFill>
                      <a:srgbClr val="243F6E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025C6342-41D0-D85B-8BB0-FFCE117039AA}"/>
                    </a:ext>
                  </a:extLst>
                </p:cNvPr>
                <p:cNvSpPr/>
                <p:nvPr/>
              </p:nvSpPr>
              <p:spPr>
                <a:xfrm>
                  <a:off x="2080340" y="0"/>
                  <a:ext cx="506841" cy="771278"/>
                </a:xfrm>
                <a:prstGeom prst="cube">
                  <a:avLst/>
                </a:prstGeom>
                <a:solidFill>
                  <a:srgbClr val="E7E6E6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b="1" dirty="0">
                      <a:solidFill>
                        <a:srgbClr val="243F6E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Al</a:t>
                  </a:r>
                  <a:endParaRPr lang="en-US" dirty="0">
                    <a:solidFill>
                      <a:srgbClr val="243F6E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5" name="Left Brace 34">
                <a:extLst>
                  <a:ext uri="{FF2B5EF4-FFF2-40B4-BE49-F238E27FC236}">
                    <a16:creationId xmlns:a16="http://schemas.microsoft.com/office/drawing/2014/main" id="{967D109C-0102-0EA6-2ADE-C74FDCE30A45}"/>
                  </a:ext>
                </a:extLst>
              </p:cNvPr>
              <p:cNvSpPr/>
              <p:nvPr/>
            </p:nvSpPr>
            <p:spPr>
              <a:xfrm>
                <a:off x="1852309" y="129654"/>
                <a:ext cx="225562" cy="327704"/>
              </a:xfrm>
              <a:prstGeom prst="leftBrace">
                <a:avLst/>
              </a:prstGeom>
              <a:noFill/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" name="Left Brace 35">
                <a:extLst>
                  <a:ext uri="{FF2B5EF4-FFF2-40B4-BE49-F238E27FC236}">
                    <a16:creationId xmlns:a16="http://schemas.microsoft.com/office/drawing/2014/main" id="{807B7DAA-E9C4-EF43-139B-0B7DFE6B0EBE}"/>
                  </a:ext>
                </a:extLst>
              </p:cNvPr>
              <p:cNvSpPr/>
              <p:nvPr/>
            </p:nvSpPr>
            <p:spPr>
              <a:xfrm>
                <a:off x="1852309" y="484496"/>
                <a:ext cx="225562" cy="335007"/>
              </a:xfrm>
              <a:prstGeom prst="leftBrace">
                <a:avLst/>
              </a:prstGeom>
              <a:noFill/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7" name="Left Brace 36">
                <a:extLst>
                  <a:ext uri="{FF2B5EF4-FFF2-40B4-BE49-F238E27FC236}">
                    <a16:creationId xmlns:a16="http://schemas.microsoft.com/office/drawing/2014/main" id="{F635EE1A-2B77-26EA-AE33-E7CCDD4D6A0C}"/>
                  </a:ext>
                </a:extLst>
              </p:cNvPr>
              <p:cNvSpPr/>
              <p:nvPr/>
            </p:nvSpPr>
            <p:spPr>
              <a:xfrm>
                <a:off x="1852309" y="852986"/>
                <a:ext cx="225562" cy="291574"/>
              </a:xfrm>
              <a:prstGeom prst="leftBrace">
                <a:avLst/>
              </a:prstGeom>
              <a:noFill/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" name="Left Brace 37">
                <a:extLst>
                  <a:ext uri="{FF2B5EF4-FFF2-40B4-BE49-F238E27FC236}">
                    <a16:creationId xmlns:a16="http://schemas.microsoft.com/office/drawing/2014/main" id="{2421C3D2-4EDD-73EA-735D-C99260EA8694}"/>
                  </a:ext>
                </a:extLst>
              </p:cNvPr>
              <p:cNvSpPr/>
              <p:nvPr/>
            </p:nvSpPr>
            <p:spPr>
              <a:xfrm>
                <a:off x="1852309" y="1180532"/>
                <a:ext cx="225562" cy="325306"/>
              </a:xfrm>
              <a:prstGeom prst="leftBrace">
                <a:avLst/>
              </a:prstGeom>
              <a:noFill/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" name="Left Brace 38">
                <a:extLst>
                  <a:ext uri="{FF2B5EF4-FFF2-40B4-BE49-F238E27FC236}">
                    <a16:creationId xmlns:a16="http://schemas.microsoft.com/office/drawing/2014/main" id="{506BE7F3-CC00-7A75-19B0-C5E22449364E}"/>
                  </a:ext>
                </a:extLst>
              </p:cNvPr>
              <p:cNvSpPr/>
              <p:nvPr/>
            </p:nvSpPr>
            <p:spPr>
              <a:xfrm>
                <a:off x="1852309" y="1535374"/>
                <a:ext cx="225425" cy="291465"/>
              </a:xfrm>
              <a:prstGeom prst="leftBrace">
                <a:avLst/>
              </a:prstGeom>
              <a:noFill/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0" name="Left Brace 39">
                <a:extLst>
                  <a:ext uri="{FF2B5EF4-FFF2-40B4-BE49-F238E27FC236}">
                    <a16:creationId xmlns:a16="http://schemas.microsoft.com/office/drawing/2014/main" id="{E5CED92B-C0FE-8539-76E4-7CB5857756CA}"/>
                  </a:ext>
                </a:extLst>
              </p:cNvPr>
              <p:cNvSpPr/>
              <p:nvPr/>
            </p:nvSpPr>
            <p:spPr>
              <a:xfrm>
                <a:off x="1852309" y="1856096"/>
                <a:ext cx="225562" cy="321122"/>
              </a:xfrm>
              <a:prstGeom prst="leftBrace">
                <a:avLst/>
              </a:prstGeom>
              <a:noFill/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" name="Left Brace 40">
                <a:extLst>
                  <a:ext uri="{FF2B5EF4-FFF2-40B4-BE49-F238E27FC236}">
                    <a16:creationId xmlns:a16="http://schemas.microsoft.com/office/drawing/2014/main" id="{0443AD31-D45D-AB96-8627-E4FEA35E0BF9}"/>
                  </a:ext>
                </a:extLst>
              </p:cNvPr>
              <p:cNvSpPr/>
              <p:nvPr/>
            </p:nvSpPr>
            <p:spPr>
              <a:xfrm>
                <a:off x="1852309" y="2210938"/>
                <a:ext cx="225562" cy="326256"/>
              </a:xfrm>
              <a:prstGeom prst="leftBrace">
                <a:avLst/>
              </a:prstGeom>
              <a:noFill/>
              <a:ln w="1270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p:sp>
          <p:nvSpPr>
            <p:cNvPr id="30" name="Text Box 131">
              <a:extLst>
                <a:ext uri="{FF2B5EF4-FFF2-40B4-BE49-F238E27FC236}">
                  <a16:creationId xmlns:a16="http://schemas.microsoft.com/office/drawing/2014/main" id="{1C07ECB1-4DC1-1BA2-2D87-1C55E9F5A560}"/>
                </a:ext>
              </a:extLst>
            </p:cNvPr>
            <p:cNvSpPr txBox="1"/>
            <p:nvPr/>
          </p:nvSpPr>
          <p:spPr>
            <a:xfrm>
              <a:off x="77705" y="1960144"/>
              <a:ext cx="1774602" cy="258893"/>
            </a:xfrm>
            <a:prstGeom prst="rect">
              <a:avLst/>
            </a:prstGeom>
            <a:solidFill>
              <a:srgbClr val="D7D7D7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Back Contact</a:t>
              </a:r>
              <a:endParaRPr lang="en-US" sz="16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133">
              <a:extLst>
                <a:ext uri="{FF2B5EF4-FFF2-40B4-BE49-F238E27FC236}">
                  <a16:creationId xmlns:a16="http://schemas.microsoft.com/office/drawing/2014/main" id="{A1C8A999-8277-9C3F-A5C1-81B5826229D7}"/>
                </a:ext>
              </a:extLst>
            </p:cNvPr>
            <p:cNvSpPr txBox="1"/>
            <p:nvPr/>
          </p:nvSpPr>
          <p:spPr>
            <a:xfrm>
              <a:off x="77705" y="872316"/>
              <a:ext cx="1607183" cy="279779"/>
            </a:xfrm>
            <a:prstGeom prst="rect">
              <a:avLst/>
            </a:prstGeom>
            <a:solidFill>
              <a:srgbClr val="D7D7D7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Buffer Layer</a:t>
              </a:r>
              <a:endParaRPr lang="en-US" sz="16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134">
              <a:extLst>
                <a:ext uri="{FF2B5EF4-FFF2-40B4-BE49-F238E27FC236}">
                  <a16:creationId xmlns:a16="http://schemas.microsoft.com/office/drawing/2014/main" id="{7ACFFBDC-4C63-88F8-51B2-3F72CB758066}"/>
                </a:ext>
              </a:extLst>
            </p:cNvPr>
            <p:cNvSpPr txBox="1"/>
            <p:nvPr/>
          </p:nvSpPr>
          <p:spPr>
            <a:xfrm>
              <a:off x="-2134" y="1221968"/>
              <a:ext cx="1788193" cy="252484"/>
            </a:xfrm>
            <a:prstGeom prst="rect">
              <a:avLst/>
            </a:prstGeom>
            <a:solidFill>
              <a:srgbClr val="D7D7D7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Absorber Layer</a:t>
              </a:r>
              <a:endParaRPr lang="en-US" sz="16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Box 136">
              <a:extLst>
                <a:ext uri="{FF2B5EF4-FFF2-40B4-BE49-F238E27FC236}">
                  <a16:creationId xmlns:a16="http://schemas.microsoft.com/office/drawing/2014/main" id="{3C30CA86-6DCF-166B-2FB0-924C277266C4}"/>
                </a:ext>
              </a:extLst>
            </p:cNvPr>
            <p:cNvSpPr txBox="1"/>
            <p:nvPr/>
          </p:nvSpPr>
          <p:spPr>
            <a:xfrm>
              <a:off x="262221" y="2219042"/>
              <a:ext cx="1345402" cy="252483"/>
            </a:xfrm>
            <a:prstGeom prst="rect">
              <a:avLst/>
            </a:prstGeom>
            <a:solidFill>
              <a:srgbClr val="D7D7D7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Substrate</a:t>
              </a:r>
              <a:endParaRPr lang="en-US" sz="16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8B09256-386C-32A6-C489-909D0C182FD2}"/>
              </a:ext>
            </a:extLst>
          </p:cNvPr>
          <p:cNvSpPr txBox="1"/>
          <p:nvPr/>
        </p:nvSpPr>
        <p:spPr>
          <a:xfrm>
            <a:off x="424546" y="5113987"/>
            <a:ext cx="5385625" cy="878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Figure </a:t>
            </a:r>
            <a:r>
              <a:rPr lang="en-US" b="1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sz="18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r>
              <a:rPr lang="en-US" sz="18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Proposed Structure FeS</a:t>
            </a:r>
            <a:r>
              <a:rPr lang="en-US" sz="18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18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/CuBi</a:t>
            </a:r>
            <a:r>
              <a:rPr lang="en-US" sz="18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18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sz="18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 </a:t>
            </a:r>
            <a:r>
              <a:rPr lang="en-US" sz="18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Based Dual Heterojunction Solar Cell.</a:t>
            </a:r>
            <a:endParaRPr lang="en-US" sz="1200" dirty="0">
              <a:solidFill>
                <a:srgbClr val="243F6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11C32DF-9778-D2BD-ADAD-B1CE2DE95DF2}"/>
              </a:ext>
            </a:extLst>
          </p:cNvPr>
          <p:cNvSpPr txBox="1"/>
          <p:nvPr/>
        </p:nvSpPr>
        <p:spPr>
          <a:xfrm>
            <a:off x="5995621" y="5113987"/>
            <a:ext cx="6046021" cy="878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8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Figure </a:t>
            </a:r>
            <a:r>
              <a:rPr lang="en-US" b="1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5</a:t>
            </a:r>
            <a:r>
              <a:rPr lang="en-US" sz="18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r>
              <a:rPr lang="en-US" sz="18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Band diagram of Proposed FTO/GaAs/FeS</a:t>
            </a:r>
            <a:r>
              <a:rPr lang="en-US" sz="18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18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/CuBi</a:t>
            </a:r>
            <a:r>
              <a:rPr lang="en-US" sz="18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18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sz="18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 </a:t>
            </a:r>
            <a:r>
              <a:rPr lang="en-US" sz="18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Structure.</a:t>
            </a:r>
            <a:endParaRPr lang="en-US" sz="1200" dirty="0">
              <a:solidFill>
                <a:srgbClr val="243F6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24935-3170-BA8B-D498-8C75E053B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91959-A9E0-408D-837E-62CCD23090F9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25464-80AB-0E88-BD00-0C7914F91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8</a:t>
            </a:fld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3AAC2A3-37C9-CB8C-D098-C1645D9BD07C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9015D57-A01C-22CE-605C-0C876D1F03EB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D02067D-5E9D-A4D2-3897-C048EF11D691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0B3807F-FD68-EDB9-3DAB-7ED5F6E205FD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57" name="Graphic 56">
                <a:extLst>
                  <a:ext uri="{FF2B5EF4-FFF2-40B4-BE49-F238E27FC236}">
                    <a16:creationId xmlns:a16="http://schemas.microsoft.com/office/drawing/2014/main" id="{BF6DBBAF-08A3-45DC-5080-351B3BF857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AF7FF2F5-B833-86D0-0E31-B21F4C483EDF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78703C87-A5EE-88EA-4D74-DD0361FD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509829" cy="79882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ROPOSED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TRUCTURE</a:t>
            </a:r>
          </a:p>
        </p:txBody>
      </p:sp>
      <p:sp>
        <p:nvSpPr>
          <p:cNvPr id="65" name="Date Placeholder 13">
            <a:extLst>
              <a:ext uri="{FF2B5EF4-FFF2-40B4-BE49-F238E27FC236}">
                <a16:creationId xmlns:a16="http://schemas.microsoft.com/office/drawing/2014/main" id="{1AC15262-60FB-5C31-90D0-FD671065355A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lide Number Placeholder 14">
            <a:extLst>
              <a:ext uri="{FF2B5EF4-FFF2-40B4-BE49-F238E27FC236}">
                <a16:creationId xmlns:a16="http://schemas.microsoft.com/office/drawing/2014/main" id="{2595701A-2715-864B-4B27-48BEC305E983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839051-8607-62C4-3384-D9DBB2602A72}"/>
              </a:ext>
            </a:extLst>
          </p:cNvPr>
          <p:cNvCxnSpPr>
            <a:cxnSpLocks/>
          </p:cNvCxnSpPr>
          <p:nvPr/>
        </p:nvCxnSpPr>
        <p:spPr>
          <a:xfrm>
            <a:off x="7533169" y="1536700"/>
            <a:ext cx="0" cy="2983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FA35FB1-E426-2F1C-3320-7C4C18543A68}"/>
              </a:ext>
            </a:extLst>
          </p:cNvPr>
          <p:cNvCxnSpPr>
            <a:cxnSpLocks/>
          </p:cNvCxnSpPr>
          <p:nvPr/>
        </p:nvCxnSpPr>
        <p:spPr>
          <a:xfrm>
            <a:off x="10035069" y="1511968"/>
            <a:ext cx="0" cy="3007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CB79964-3331-4CD8-B9A5-BC33D6AB8BB4}"/>
              </a:ext>
            </a:extLst>
          </p:cNvPr>
          <p:cNvCxnSpPr>
            <a:cxnSpLocks/>
          </p:cNvCxnSpPr>
          <p:nvPr/>
        </p:nvCxnSpPr>
        <p:spPr>
          <a:xfrm>
            <a:off x="10592669" y="1511968"/>
            <a:ext cx="0" cy="3010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E50349D-571C-7F78-8881-30691166A757}"/>
              </a:ext>
            </a:extLst>
          </p:cNvPr>
          <p:cNvCxnSpPr>
            <a:cxnSpLocks/>
          </p:cNvCxnSpPr>
          <p:nvPr/>
        </p:nvCxnSpPr>
        <p:spPr>
          <a:xfrm>
            <a:off x="10315670" y="1511968"/>
            <a:ext cx="0" cy="3007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9E302B8-0531-04CA-DB7B-61C037FC5658}"/>
              </a:ext>
            </a:extLst>
          </p:cNvPr>
          <p:cNvSpPr txBox="1"/>
          <p:nvPr/>
        </p:nvSpPr>
        <p:spPr>
          <a:xfrm>
            <a:off x="6895166" y="3371005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CuBi</a:t>
            </a:r>
            <a:r>
              <a:rPr lang="en-US" sz="1100" b="1" baseline="-250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100" b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100" b="1" baseline="-250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en-US" sz="1100" dirty="0">
              <a:solidFill>
                <a:srgbClr val="FFC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AA4D28A-E52A-8ACE-AD4E-60005AE25D28}"/>
              </a:ext>
            </a:extLst>
          </p:cNvPr>
          <p:cNvSpPr txBox="1"/>
          <p:nvPr/>
        </p:nvSpPr>
        <p:spPr>
          <a:xfrm>
            <a:off x="8432555" y="3380692"/>
            <a:ext cx="680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FeS</a:t>
            </a:r>
            <a:r>
              <a:rPr lang="en-US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2B06BA-DEDB-F7BE-EC47-BB7A4EF1C7F5}"/>
              </a:ext>
            </a:extLst>
          </p:cNvPr>
          <p:cNvSpPr txBox="1"/>
          <p:nvPr/>
        </p:nvSpPr>
        <p:spPr>
          <a:xfrm rot="16200000">
            <a:off x="10082572" y="2086173"/>
            <a:ext cx="7431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GaAs</a:t>
            </a:r>
            <a:endParaRPr lang="en-US" sz="1200" dirty="0">
              <a:solidFill>
                <a:srgbClr val="4472C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4AF06F-CFAC-6971-53CD-64A08E4D4D3E}"/>
              </a:ext>
            </a:extLst>
          </p:cNvPr>
          <p:cNvSpPr txBox="1"/>
          <p:nvPr/>
        </p:nvSpPr>
        <p:spPr>
          <a:xfrm rot="16200000">
            <a:off x="10298287" y="2109256"/>
            <a:ext cx="720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FTO</a:t>
            </a:r>
            <a:endParaRPr lang="en-US" sz="9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756234-F044-390C-0D72-AE4CA9ACFC5E}"/>
              </a:ext>
            </a:extLst>
          </p:cNvPr>
          <p:cNvSpPr txBox="1"/>
          <p:nvPr/>
        </p:nvSpPr>
        <p:spPr>
          <a:xfrm>
            <a:off x="9661312" y="3811193"/>
            <a:ext cx="9971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Depletion Region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B965572-C042-8CBA-35CA-2E1DEA6FB42A}"/>
              </a:ext>
            </a:extLst>
          </p:cNvPr>
          <p:cNvCxnSpPr>
            <a:cxnSpLocks/>
          </p:cNvCxnSpPr>
          <p:nvPr/>
        </p:nvCxnSpPr>
        <p:spPr>
          <a:xfrm>
            <a:off x="9886950" y="3750024"/>
            <a:ext cx="56721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52756704-487E-B974-3874-C5AD6759914D}"/>
              </a:ext>
            </a:extLst>
          </p:cNvPr>
          <p:cNvCxnSpPr>
            <a:cxnSpLocks/>
          </p:cNvCxnSpPr>
          <p:nvPr/>
        </p:nvCxnSpPr>
        <p:spPr>
          <a:xfrm>
            <a:off x="10165719" y="2718138"/>
            <a:ext cx="476613" cy="36201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D9BC4F86-4933-F344-0A71-76C806050E17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057428" y="3270342"/>
            <a:ext cx="506115" cy="42517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CED16C0-C83C-429A-BF52-CF9A76F03E23}"/>
              </a:ext>
            </a:extLst>
          </p:cNvPr>
          <p:cNvCxnSpPr/>
          <p:nvPr/>
        </p:nvCxnSpPr>
        <p:spPr>
          <a:xfrm>
            <a:off x="7077554" y="1964411"/>
            <a:ext cx="4556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1F153CA-B779-BEAC-75E5-6F6732BBBAC6}"/>
              </a:ext>
            </a:extLst>
          </p:cNvPr>
          <p:cNvCxnSpPr>
            <a:cxnSpLocks/>
          </p:cNvCxnSpPr>
          <p:nvPr/>
        </p:nvCxnSpPr>
        <p:spPr>
          <a:xfrm>
            <a:off x="8204747" y="2288725"/>
            <a:ext cx="1082128" cy="1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53DE027-DD00-AFB5-B7AB-8B6DB9742098}"/>
              </a:ext>
            </a:extLst>
          </p:cNvPr>
          <p:cNvCxnSpPr/>
          <p:nvPr/>
        </p:nvCxnSpPr>
        <p:spPr>
          <a:xfrm flipH="1">
            <a:off x="7077554" y="3015908"/>
            <a:ext cx="304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5631141-D072-6EB9-FD99-05D0661F33D2}"/>
              </a:ext>
            </a:extLst>
          </p:cNvPr>
          <p:cNvCxnSpPr/>
          <p:nvPr/>
        </p:nvCxnSpPr>
        <p:spPr>
          <a:xfrm flipH="1">
            <a:off x="8524875" y="3065297"/>
            <a:ext cx="86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Flowchart: Connector 92">
            <a:extLst>
              <a:ext uri="{FF2B5EF4-FFF2-40B4-BE49-F238E27FC236}">
                <a16:creationId xmlns:a16="http://schemas.microsoft.com/office/drawing/2014/main" id="{1B374EC2-F7C5-11B1-CCC4-D0DE7D840A89}"/>
              </a:ext>
            </a:extLst>
          </p:cNvPr>
          <p:cNvSpPr/>
          <p:nvPr/>
        </p:nvSpPr>
        <p:spPr>
          <a:xfrm>
            <a:off x="7124700" y="2102999"/>
            <a:ext cx="45719" cy="59786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04DD6F5-C1EB-A641-FBB1-32EA036B6F73}"/>
              </a:ext>
            </a:extLst>
          </p:cNvPr>
          <p:cNvSpPr/>
          <p:nvPr/>
        </p:nvSpPr>
        <p:spPr>
          <a:xfrm>
            <a:off x="7348952" y="2108487"/>
            <a:ext cx="45719" cy="59786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lowchart: Connector 94">
            <a:extLst>
              <a:ext uri="{FF2B5EF4-FFF2-40B4-BE49-F238E27FC236}">
                <a16:creationId xmlns:a16="http://schemas.microsoft.com/office/drawing/2014/main" id="{F4EE62E1-571F-BE39-1BBE-178E24CBA64C}"/>
              </a:ext>
            </a:extLst>
          </p:cNvPr>
          <p:cNvSpPr/>
          <p:nvPr/>
        </p:nvSpPr>
        <p:spPr>
          <a:xfrm>
            <a:off x="7978231" y="2368499"/>
            <a:ext cx="45719" cy="59786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0DE7C6DE-1A77-7DD5-29BE-72DCEFB4DF9E}"/>
              </a:ext>
            </a:extLst>
          </p:cNvPr>
          <p:cNvSpPr/>
          <p:nvPr/>
        </p:nvSpPr>
        <p:spPr>
          <a:xfrm>
            <a:off x="8459600" y="2368499"/>
            <a:ext cx="45719" cy="59786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Flowchart: Connector 96">
            <a:extLst>
              <a:ext uri="{FF2B5EF4-FFF2-40B4-BE49-F238E27FC236}">
                <a16:creationId xmlns:a16="http://schemas.microsoft.com/office/drawing/2014/main" id="{6EB9EC81-7EA6-750A-43DB-0409F41CB70C}"/>
              </a:ext>
            </a:extLst>
          </p:cNvPr>
          <p:cNvSpPr/>
          <p:nvPr/>
        </p:nvSpPr>
        <p:spPr>
          <a:xfrm>
            <a:off x="9399366" y="2368499"/>
            <a:ext cx="45719" cy="59786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9C4B4C4E-9299-3229-2811-64C09868A77E}"/>
              </a:ext>
            </a:extLst>
          </p:cNvPr>
          <p:cNvSpPr/>
          <p:nvPr/>
        </p:nvSpPr>
        <p:spPr>
          <a:xfrm>
            <a:off x="10465622" y="2692251"/>
            <a:ext cx="45719" cy="59786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Flowchart: Connector 98">
            <a:extLst>
              <a:ext uri="{FF2B5EF4-FFF2-40B4-BE49-F238E27FC236}">
                <a16:creationId xmlns:a16="http://schemas.microsoft.com/office/drawing/2014/main" id="{72181736-A16D-D3EA-411D-B0CA5DE417F2}"/>
              </a:ext>
            </a:extLst>
          </p:cNvPr>
          <p:cNvSpPr/>
          <p:nvPr/>
        </p:nvSpPr>
        <p:spPr>
          <a:xfrm>
            <a:off x="10186782" y="2398392"/>
            <a:ext cx="45719" cy="59786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8D9B1D42-0C96-154E-C43F-D88FD46238D2}"/>
              </a:ext>
            </a:extLst>
          </p:cNvPr>
          <p:cNvSpPr/>
          <p:nvPr/>
        </p:nvSpPr>
        <p:spPr>
          <a:xfrm>
            <a:off x="7065248" y="2910536"/>
            <a:ext cx="45719" cy="45719"/>
          </a:xfrm>
          <a:prstGeom prst="flowChartConnector">
            <a:avLst/>
          </a:prstGeom>
          <a:solidFill>
            <a:srgbClr val="E8E8E8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Flowchart: Connector 106">
            <a:extLst>
              <a:ext uri="{FF2B5EF4-FFF2-40B4-BE49-F238E27FC236}">
                <a16:creationId xmlns:a16="http://schemas.microsoft.com/office/drawing/2014/main" id="{2A6DACAD-CA13-5B11-221D-F3EE288A2D8A}"/>
              </a:ext>
            </a:extLst>
          </p:cNvPr>
          <p:cNvSpPr/>
          <p:nvPr/>
        </p:nvSpPr>
        <p:spPr>
          <a:xfrm rot="11192216">
            <a:off x="7258625" y="2912192"/>
            <a:ext cx="45719" cy="45719"/>
          </a:xfrm>
          <a:prstGeom prst="flowChartConnector">
            <a:avLst/>
          </a:prstGeom>
          <a:solidFill>
            <a:srgbClr val="E8E8E8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747F7F9D-E613-6319-D318-1C72ABCD9829}"/>
              </a:ext>
            </a:extLst>
          </p:cNvPr>
          <p:cNvSpPr/>
          <p:nvPr/>
        </p:nvSpPr>
        <p:spPr>
          <a:xfrm>
            <a:off x="8001090" y="2991112"/>
            <a:ext cx="45719" cy="45719"/>
          </a:xfrm>
          <a:prstGeom prst="flowChartConnector">
            <a:avLst/>
          </a:prstGeom>
          <a:solidFill>
            <a:srgbClr val="E8E8E8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lowchart: Connector 108">
            <a:extLst>
              <a:ext uri="{FF2B5EF4-FFF2-40B4-BE49-F238E27FC236}">
                <a16:creationId xmlns:a16="http://schemas.microsoft.com/office/drawing/2014/main" id="{C958EDCD-B19D-A860-E331-64B3899F5578}"/>
              </a:ext>
            </a:extLst>
          </p:cNvPr>
          <p:cNvSpPr/>
          <p:nvPr/>
        </p:nvSpPr>
        <p:spPr>
          <a:xfrm>
            <a:off x="8433584" y="2994692"/>
            <a:ext cx="45719" cy="45719"/>
          </a:xfrm>
          <a:prstGeom prst="flowChartConnector">
            <a:avLst/>
          </a:prstGeom>
          <a:solidFill>
            <a:srgbClr val="E8E8E8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E8C5D9B8-47DF-15E4-D5FF-AFC5A2B4B18A}"/>
              </a:ext>
            </a:extLst>
          </p:cNvPr>
          <p:cNvSpPr/>
          <p:nvPr/>
        </p:nvSpPr>
        <p:spPr>
          <a:xfrm>
            <a:off x="9397682" y="2976705"/>
            <a:ext cx="45719" cy="45719"/>
          </a:xfrm>
          <a:prstGeom prst="flowChartConnector">
            <a:avLst/>
          </a:prstGeom>
          <a:solidFill>
            <a:srgbClr val="E8E8E8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Flowchart: Connector 110">
            <a:extLst>
              <a:ext uri="{FF2B5EF4-FFF2-40B4-BE49-F238E27FC236}">
                <a16:creationId xmlns:a16="http://schemas.microsoft.com/office/drawing/2014/main" id="{D0DA6AC7-1FB3-BA68-B6EC-0011FC92341E}"/>
              </a:ext>
            </a:extLst>
          </p:cNvPr>
          <p:cNvSpPr/>
          <p:nvPr/>
        </p:nvSpPr>
        <p:spPr>
          <a:xfrm>
            <a:off x="10188929" y="3052317"/>
            <a:ext cx="45719" cy="45719"/>
          </a:xfrm>
          <a:prstGeom prst="flowChartConnector">
            <a:avLst/>
          </a:prstGeom>
          <a:solidFill>
            <a:srgbClr val="E8E8E8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7F69D860-E1AF-725B-1882-C0A8FB4D7D68}"/>
              </a:ext>
            </a:extLst>
          </p:cNvPr>
          <p:cNvSpPr/>
          <p:nvPr/>
        </p:nvSpPr>
        <p:spPr>
          <a:xfrm>
            <a:off x="10462719" y="3485636"/>
            <a:ext cx="45719" cy="45719"/>
          </a:xfrm>
          <a:prstGeom prst="flowChartConnector">
            <a:avLst/>
          </a:prstGeom>
          <a:solidFill>
            <a:srgbClr val="E8E8E8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3DCF66-9885-480F-7A5B-810A2B078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715" y="1026025"/>
            <a:ext cx="5507114" cy="421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ADC7-39ED-458B-B7AF-2CA626C5C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368" y="983743"/>
            <a:ext cx="6952605" cy="4300867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20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SCAPS-1D</a:t>
            </a: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(SOLAR CELL CAPACITANCE SIMULATOR)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EATURES: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Editable effects and properties of materials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of sophisticated equations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of TFSC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description of generation and recombination processes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band diagram.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Different types of defect levels 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variety of standard and other spectra </a:t>
            </a:r>
            <a:r>
              <a:rPr lang="en-US" sz="20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2000" dirty="0">
              <a:solidFill>
                <a:srgbClr val="243F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>
              <a:solidFill>
                <a:srgbClr val="243F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E315F-A430-1F5E-1D2E-F29E26693C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599" y="1194735"/>
            <a:ext cx="4373680" cy="314390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C2C56B-CA77-A289-48BA-57882761DC4B}"/>
              </a:ext>
            </a:extLst>
          </p:cNvPr>
          <p:cNvSpPr txBox="1"/>
          <p:nvPr/>
        </p:nvSpPr>
        <p:spPr>
          <a:xfrm>
            <a:off x="7663373" y="4441971"/>
            <a:ext cx="3605446" cy="504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43F6E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Figure 6: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43F6E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Layer Editing Panel.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43F6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6746B1-9019-0F0C-0532-A560D3821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96175B-65B8-4CAF-986C-90670BF9932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156E4E-86F5-900E-08E3-1375AF6D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FB57B4-B937-4672-8679-AFEDB5DBF6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709E45-8766-20FC-7508-49D5C2A206E1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3442372-501E-AD03-0C38-FCA3883F673C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9CC1D84-22EA-92C9-3725-E402FEE38295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D6102F-F8F1-0EC7-640B-13814D04A8A3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2DB95E83-FEE0-8B33-17B3-8E4414F16E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BFFD111-05F2-F006-B516-43548A8A9E2C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1B1E902-F597-C90C-1AFD-006F56FC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509829" cy="79882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M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ATERIALS &amp;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ETHODOLOGY</a:t>
            </a:r>
            <a:endParaRPr lang="en-US" sz="24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Date Placeholder 13">
            <a:extLst>
              <a:ext uri="{FF2B5EF4-FFF2-40B4-BE49-F238E27FC236}">
                <a16:creationId xmlns:a16="http://schemas.microsoft.com/office/drawing/2014/main" id="{6B35B9BD-F058-B284-B825-23A2DBD546F2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3F535C-26E3-48FC-898D-61127828DEB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4">
            <a:extLst>
              <a:ext uri="{FF2B5EF4-FFF2-40B4-BE49-F238E27FC236}">
                <a16:creationId xmlns:a16="http://schemas.microsoft.com/office/drawing/2014/main" id="{41158F43-8E63-B884-7BDB-709B3E448839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FB57B4-B937-4672-8679-AFEDB5DBF6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964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6746B1-9019-0F0C-0532-A560D3821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6175B-65B8-4CAF-986C-90670BF99322}" type="datetime1">
              <a:rPr lang="en-US" smtClean="0"/>
              <a:t>1/11/2026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156E4E-86F5-900E-08E3-1375AF6D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10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709E45-8766-20FC-7508-49D5C2A206E1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3442372-501E-AD03-0C38-FCA3883F673C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9CC1D84-22EA-92C9-3725-E402FEE38295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D6102F-F8F1-0EC7-640B-13814D04A8A3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2DB95E83-FEE0-8B33-17B3-8E4414F16E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BFFD111-05F2-F006-B516-43548A8A9E2C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1B1E902-F597-C90C-1AFD-006F56FC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509829" cy="79882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LGORITHM</a:t>
            </a:r>
            <a:endParaRPr lang="en-US" sz="24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Date Placeholder 13">
            <a:extLst>
              <a:ext uri="{FF2B5EF4-FFF2-40B4-BE49-F238E27FC236}">
                <a16:creationId xmlns:a16="http://schemas.microsoft.com/office/drawing/2014/main" id="{6B35B9BD-F058-B284-B825-23A2DBD546F2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4">
            <a:extLst>
              <a:ext uri="{FF2B5EF4-FFF2-40B4-BE49-F238E27FC236}">
                <a16:creationId xmlns:a16="http://schemas.microsoft.com/office/drawing/2014/main" id="{41158F43-8E63-B884-7BDB-709B3E448839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225746" y="938264"/>
            <a:ext cx="7234705" cy="5028453"/>
            <a:chOff x="2225746" y="938264"/>
            <a:chExt cx="7234705" cy="5028453"/>
          </a:xfrm>
        </p:grpSpPr>
        <p:grpSp>
          <p:nvGrpSpPr>
            <p:cNvPr id="55" name="Group 54"/>
            <p:cNvGrpSpPr/>
            <p:nvPr/>
          </p:nvGrpSpPr>
          <p:grpSpPr>
            <a:xfrm>
              <a:off x="2225746" y="938264"/>
              <a:ext cx="7234705" cy="5028453"/>
              <a:chOff x="818359" y="1204607"/>
              <a:chExt cx="7061471" cy="4806342"/>
            </a:xfrm>
          </p:grpSpPr>
          <p:sp>
            <p:nvSpPr>
              <p:cNvPr id="4" name="Flowchart: Process 3"/>
              <p:cNvSpPr/>
              <p:nvPr/>
            </p:nvSpPr>
            <p:spPr>
              <a:xfrm>
                <a:off x="1198793" y="1204607"/>
                <a:ext cx="6681037" cy="513320"/>
              </a:xfrm>
              <a:prstGeom prst="flowChartProcess">
                <a:avLst/>
              </a:prstGeom>
              <a:solidFill>
                <a:srgbClr val="233E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Design &amp; Propose </a:t>
                </a:r>
                <a:r>
                  <a:rPr lang="en-US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</a:rPr>
                  <a:t>FeS</a:t>
                </a:r>
                <a:r>
                  <a:rPr lang="en-US" b="1" baseline="-25000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n-US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solar cell from reviewing literatures </a:t>
                </a:r>
              </a:p>
            </p:txBody>
          </p:sp>
          <p:sp>
            <p:nvSpPr>
              <p:cNvPr id="19" name="Flowchart: Process 18"/>
              <p:cNvSpPr/>
              <p:nvPr/>
            </p:nvSpPr>
            <p:spPr>
              <a:xfrm>
                <a:off x="1523920" y="2025009"/>
                <a:ext cx="6030783" cy="361700"/>
              </a:xfrm>
              <a:prstGeom prst="flowChartProcess">
                <a:avLst/>
              </a:prstGeom>
              <a:solidFill>
                <a:srgbClr val="233E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Develop &amp; Validate the model with published experimental data </a:t>
                </a:r>
              </a:p>
            </p:txBody>
          </p:sp>
          <p:sp>
            <p:nvSpPr>
              <p:cNvPr id="24" name="Flowchart: Process 23"/>
              <p:cNvSpPr/>
              <p:nvPr/>
            </p:nvSpPr>
            <p:spPr>
              <a:xfrm>
                <a:off x="1756536" y="2693790"/>
                <a:ext cx="5565549" cy="576108"/>
              </a:xfrm>
              <a:prstGeom prst="flowChartProcess">
                <a:avLst/>
              </a:prstGeom>
              <a:solidFill>
                <a:srgbClr val="233E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Launch SCAPS 1D, Set problem, Provide input parameters &amp; Run the pro</a:t>
                </a: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gram</a:t>
                </a:r>
              </a:p>
            </p:txBody>
          </p:sp>
          <p:sp>
            <p:nvSpPr>
              <p:cNvPr id="6" name="Flowchart: Decision 5"/>
              <p:cNvSpPr/>
              <p:nvPr/>
            </p:nvSpPr>
            <p:spPr>
              <a:xfrm>
                <a:off x="3533003" y="3557851"/>
                <a:ext cx="2047739" cy="1179481"/>
              </a:xfrm>
              <a:prstGeom prst="flowChartDecision">
                <a:avLst/>
              </a:prstGeom>
              <a:solidFill>
                <a:srgbClr val="233E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Device Working?</a:t>
                </a:r>
              </a:p>
            </p:txBody>
          </p:sp>
          <p:sp>
            <p:nvSpPr>
              <p:cNvPr id="25" name="Flowchart: Process 24"/>
              <p:cNvSpPr/>
              <p:nvPr/>
            </p:nvSpPr>
            <p:spPr>
              <a:xfrm>
                <a:off x="2751736" y="5540218"/>
                <a:ext cx="3575148" cy="470731"/>
              </a:xfrm>
              <a:prstGeom prst="flowChartProcess">
                <a:avLst/>
              </a:prstGeom>
              <a:solidFill>
                <a:srgbClr val="233E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Analyze data &amp; Draw conclusions</a:t>
                </a:r>
              </a:p>
            </p:txBody>
          </p:sp>
          <p:sp>
            <p:nvSpPr>
              <p:cNvPr id="26" name="Flowchart: Process 25"/>
              <p:cNvSpPr/>
              <p:nvPr/>
            </p:nvSpPr>
            <p:spPr>
              <a:xfrm>
                <a:off x="818359" y="3867250"/>
                <a:ext cx="2028829" cy="544908"/>
              </a:xfrm>
              <a:prstGeom prst="flowChartProcess">
                <a:avLst/>
              </a:prstGeom>
              <a:solidFill>
                <a:srgbClr val="233E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Troubleshoot &amp; Check all Steps</a:t>
                </a:r>
              </a:p>
            </p:txBody>
          </p:sp>
          <p:sp>
            <p:nvSpPr>
              <p:cNvPr id="27" name="Flowchart: Process 26"/>
              <p:cNvSpPr/>
              <p:nvPr/>
            </p:nvSpPr>
            <p:spPr>
              <a:xfrm>
                <a:off x="3174147" y="5027809"/>
                <a:ext cx="2730327" cy="304971"/>
              </a:xfrm>
              <a:prstGeom prst="flowChartProcess">
                <a:avLst/>
              </a:prstGeom>
              <a:solidFill>
                <a:srgbClr val="233E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Optimize proposed model</a:t>
                </a:r>
              </a:p>
            </p:txBody>
          </p:sp>
          <p:cxnSp>
            <p:nvCxnSpPr>
              <p:cNvPr id="29" name="Straight Arrow Connector 28"/>
              <p:cNvCxnSpPr>
                <a:stCxn id="4" idx="2"/>
                <a:endCxn id="19" idx="0"/>
              </p:cNvCxnSpPr>
              <p:nvPr/>
            </p:nvCxnSpPr>
            <p:spPr>
              <a:xfrm>
                <a:off x="4539312" y="1717927"/>
                <a:ext cx="0" cy="307081"/>
              </a:xfrm>
              <a:prstGeom prst="straightConnector1">
                <a:avLst/>
              </a:prstGeom>
              <a:ln w="28575">
                <a:solidFill>
                  <a:srgbClr val="233E6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>
                <a:stCxn id="19" idx="2"/>
                <a:endCxn id="24" idx="0"/>
              </p:cNvCxnSpPr>
              <p:nvPr/>
            </p:nvCxnSpPr>
            <p:spPr>
              <a:xfrm>
                <a:off x="4539312" y="2386709"/>
                <a:ext cx="0" cy="307081"/>
              </a:xfrm>
              <a:prstGeom prst="straightConnector1">
                <a:avLst/>
              </a:prstGeom>
              <a:ln w="28575">
                <a:solidFill>
                  <a:srgbClr val="233E6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>
                <a:endCxn id="6" idx="0"/>
              </p:cNvCxnSpPr>
              <p:nvPr/>
            </p:nvCxnSpPr>
            <p:spPr>
              <a:xfrm>
                <a:off x="4553475" y="3239845"/>
                <a:ext cx="3398" cy="318005"/>
              </a:xfrm>
              <a:prstGeom prst="straightConnector1">
                <a:avLst/>
              </a:prstGeom>
              <a:ln w="28575">
                <a:solidFill>
                  <a:srgbClr val="233E6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 flipH="1">
                <a:off x="4539342" y="4676256"/>
                <a:ext cx="1" cy="347245"/>
              </a:xfrm>
              <a:prstGeom prst="straightConnector1">
                <a:avLst/>
              </a:prstGeom>
              <a:ln w="28575">
                <a:solidFill>
                  <a:srgbClr val="233E6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>
                <a:stCxn id="27" idx="2"/>
                <a:endCxn id="25" idx="0"/>
              </p:cNvCxnSpPr>
              <p:nvPr/>
            </p:nvCxnSpPr>
            <p:spPr>
              <a:xfrm>
                <a:off x="4539311" y="5332780"/>
                <a:ext cx="0" cy="207439"/>
              </a:xfrm>
              <a:prstGeom prst="straightConnector1">
                <a:avLst/>
              </a:prstGeom>
              <a:ln w="28575">
                <a:solidFill>
                  <a:srgbClr val="233E6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>
                <a:endCxn id="26" idx="3"/>
              </p:cNvCxnSpPr>
              <p:nvPr/>
            </p:nvCxnSpPr>
            <p:spPr>
              <a:xfrm flipH="1" flipV="1">
                <a:off x="2847188" y="4139704"/>
                <a:ext cx="839977" cy="2794"/>
              </a:xfrm>
              <a:prstGeom prst="straightConnector1">
                <a:avLst/>
              </a:prstGeom>
              <a:ln w="28575">
                <a:solidFill>
                  <a:srgbClr val="233E6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TextBox 74"/>
            <p:cNvSpPr txBox="1"/>
            <p:nvPr/>
          </p:nvSpPr>
          <p:spPr>
            <a:xfrm>
              <a:off x="6116446" y="4640285"/>
              <a:ext cx="62585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solidFill>
                    <a:srgbClr val="24417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545696" y="3695162"/>
              <a:ext cx="44222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solidFill>
                    <a:srgbClr val="24417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  <p:cxnSp>
          <p:nvCxnSpPr>
            <p:cNvPr id="86" name="Elbow Connector 85"/>
            <p:cNvCxnSpPr>
              <a:stCxn id="26" idx="1"/>
            </p:cNvCxnSpPr>
            <p:nvPr/>
          </p:nvCxnSpPr>
          <p:spPr>
            <a:xfrm rot="10800000" flipH="1">
              <a:off x="2225746" y="1985790"/>
              <a:ext cx="722870" cy="2023208"/>
            </a:xfrm>
            <a:prstGeom prst="bentConnector4">
              <a:avLst>
                <a:gd name="adj1" fmla="val -69573"/>
                <a:gd name="adj2" fmla="val 99603"/>
              </a:avLst>
            </a:prstGeom>
            <a:ln w="28575">
              <a:solidFill>
                <a:srgbClr val="233E6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522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E7DEFB6D-F597-2C29-D95A-56156066E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87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54F13-DECA-BC98-6CD7-A3AA1606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DDA5-F729-434C-938D-2A9BD66F5BD9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11998-B511-2CF1-8019-D242E5907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11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246A454-C584-A353-CC04-BD0B36A917A5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D0E902D-8838-3EA8-C7CB-B275391DC684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3A9FAFF-F3EA-1C2F-BF23-612793BA0330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AA357A-89AF-61C5-FD14-EF1BB4210909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4F5DD35C-8BAD-9908-25F9-AA177E0BFD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A514E61-C68B-86E4-BEE3-04462180DACF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59105BE-7B98-ADB6-ED71-1D803FEB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509829" cy="79882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S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TRUCTURE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PTIMIZATION: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HICKNESS</a:t>
            </a:r>
          </a:p>
        </p:txBody>
      </p:sp>
      <p:sp>
        <p:nvSpPr>
          <p:cNvPr id="22" name="Date Placeholder 13">
            <a:extLst>
              <a:ext uri="{FF2B5EF4-FFF2-40B4-BE49-F238E27FC236}">
                <a16:creationId xmlns:a16="http://schemas.microsoft.com/office/drawing/2014/main" id="{FB4C8603-FABA-F78E-312C-D83A05AD3011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14">
            <a:extLst>
              <a:ext uri="{FF2B5EF4-FFF2-40B4-BE49-F238E27FC236}">
                <a16:creationId xmlns:a16="http://schemas.microsoft.com/office/drawing/2014/main" id="{82592B6C-21C6-7AF5-E382-DBD9BC4CA9FC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C3F323-2B05-B3BE-3427-6F4ECAC4521A}"/>
              </a:ext>
            </a:extLst>
          </p:cNvPr>
          <p:cNvSpPr txBox="1"/>
          <p:nvPr/>
        </p:nvSpPr>
        <p:spPr>
          <a:xfrm>
            <a:off x="214454" y="4733356"/>
            <a:ext cx="1175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200" baseline="-250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sz="2200" baseline="-25000" dirty="0">
                <a:solidFill>
                  <a:srgbClr val="223C6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V</a:t>
            </a:r>
            <a:r>
              <a:rPr lang="en-US" sz="2200" baseline="-250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 </a:t>
            </a:r>
            <a:r>
              <a:rPr lang="en-US" sz="2200" dirty="0">
                <a:solidFill>
                  <a:srgbClr val="223C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almost invariant with the change of thickness of 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CuBi</a:t>
            </a:r>
            <a:r>
              <a:rPr lang="en-US" sz="24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sz="24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sz="2200" dirty="0">
                <a:solidFill>
                  <a:srgbClr val="223C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every 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FeS</a:t>
            </a:r>
            <a:r>
              <a:rPr lang="en-US" sz="24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 </a:t>
            </a:r>
            <a:r>
              <a:rPr lang="en-US" sz="2200" dirty="0">
                <a:solidFill>
                  <a:srgbClr val="223C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en-US" sz="22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200" baseline="-250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increases with the increment of thickness of 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FeS</a:t>
            </a:r>
            <a:r>
              <a:rPr lang="en-US" sz="24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 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and becomes constant.</a:t>
            </a:r>
            <a:endParaRPr lang="en-US" sz="2400" baseline="-25000" dirty="0">
              <a:solidFill>
                <a:srgbClr val="243F6E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aseline="-250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 </a:t>
            </a: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decreases with increment of thickness of 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FeS</a:t>
            </a:r>
            <a:r>
              <a:rPr lang="en-US" sz="24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2200" dirty="0"/>
              <a:t>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85456" y="810264"/>
            <a:ext cx="10031150" cy="3831918"/>
            <a:chOff x="893743" y="2041149"/>
            <a:chExt cx="10031150" cy="383191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32E39F8-DB89-01ED-9419-1E42BA2EE8C9}"/>
                </a:ext>
              </a:extLst>
            </p:cNvPr>
            <p:cNvSpPr txBox="1"/>
            <p:nvPr/>
          </p:nvSpPr>
          <p:spPr>
            <a:xfrm>
              <a:off x="893743" y="5409670"/>
              <a:ext cx="10031150" cy="463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b="1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Figure 7: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  Effect on (a) J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SC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, (b) V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OC 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with the variation of thickness of CuBi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O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 for FeS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2 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layers</a:t>
              </a:r>
              <a:r>
                <a: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.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472DC31-CFE4-BCCC-87BB-BB48DA21E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68535" y="2041149"/>
              <a:ext cx="4591050" cy="35147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DC2DA39-5881-AAC7-7B2E-2DB9A1ECC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59585" y="2041149"/>
              <a:ext cx="4591050" cy="3514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664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E7DEFB6D-F597-2C29-D95A-56156066E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87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3DF41527-00B3-82F2-4F59-337AFD048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705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A97C44B8-7AEA-F357-6490-018E3C9F0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299" y="37893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54F13-DECA-BC98-6CD7-A3AA1606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DDA5-F729-434C-938D-2A9BD66F5BD9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11998-B511-2CF1-8019-D242E5907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12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246A454-C584-A353-CC04-BD0B36A917A5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D0E902D-8838-3EA8-C7CB-B275391DC684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3A9FAFF-F3EA-1C2F-BF23-612793BA0330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AA357A-89AF-61C5-FD14-EF1BB4210909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4F5DD35C-8BAD-9908-25F9-AA177E0BFD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A514E61-C68B-86E4-BEE3-04462180DACF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59105BE-7B98-ADB6-ED71-1D803FEB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509829" cy="79882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S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TRUCTURE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PTIMIZATION: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HICKNESS</a:t>
            </a:r>
          </a:p>
        </p:txBody>
      </p:sp>
      <p:sp>
        <p:nvSpPr>
          <p:cNvPr id="22" name="Date Placeholder 13">
            <a:extLst>
              <a:ext uri="{FF2B5EF4-FFF2-40B4-BE49-F238E27FC236}">
                <a16:creationId xmlns:a16="http://schemas.microsoft.com/office/drawing/2014/main" id="{FB4C8603-FABA-F78E-312C-D83A05AD3011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14">
            <a:extLst>
              <a:ext uri="{FF2B5EF4-FFF2-40B4-BE49-F238E27FC236}">
                <a16:creationId xmlns:a16="http://schemas.microsoft.com/office/drawing/2014/main" id="{82592B6C-21C6-7AF5-E382-DBD9BC4CA9FC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C3F323-2B05-B3BE-3427-6F4ECAC4521A}"/>
              </a:ext>
            </a:extLst>
          </p:cNvPr>
          <p:cNvSpPr txBox="1"/>
          <p:nvPr/>
        </p:nvSpPr>
        <p:spPr>
          <a:xfrm>
            <a:off x="1317824" y="4755850"/>
            <a:ext cx="9566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Both FF and ɳ </a:t>
            </a: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increase sightly </a:t>
            </a:r>
            <a:r>
              <a:rPr lang="en-US" sz="2200" dirty="0">
                <a:solidFill>
                  <a:srgbClr val="223C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decrement of thickness of 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CuBi</a:t>
            </a:r>
            <a:r>
              <a:rPr lang="en-US" sz="24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sz="24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sz="22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FF first decreases and then increases with increment of thickness of 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FeS</a:t>
            </a:r>
            <a:r>
              <a:rPr lang="en-US" sz="24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400" baseline="-25000" dirty="0">
              <a:solidFill>
                <a:srgbClr val="243F6E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ɳ</a:t>
            </a: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first increases and then slightly decreases with increment of thickness of 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FeS</a:t>
            </a:r>
            <a:r>
              <a:rPr lang="en-US" sz="24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400" baseline="-25000" dirty="0">
              <a:solidFill>
                <a:srgbClr val="243F6E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085456" y="798823"/>
            <a:ext cx="10031150" cy="3803175"/>
            <a:chOff x="838200" y="2002518"/>
            <a:chExt cx="10031150" cy="380317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32E39F8-DB89-01ED-9419-1E42BA2EE8C9}"/>
                </a:ext>
              </a:extLst>
            </p:cNvPr>
            <p:cNvSpPr txBox="1"/>
            <p:nvPr/>
          </p:nvSpPr>
          <p:spPr>
            <a:xfrm>
              <a:off x="838200" y="5342296"/>
              <a:ext cx="10031150" cy="463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800"/>
                </a:spcAft>
              </a:pPr>
              <a:r>
                <a:rPr lang="en-US" sz="1800" b="1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Figure </a:t>
              </a:r>
              <a:r>
                <a:rPr lang="en-US" b="1" dirty="0">
                  <a:solidFill>
                    <a:srgbClr val="243F6E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8</a:t>
              </a:r>
              <a:r>
                <a:rPr lang="en-US" sz="1800" b="1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: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  Effect on </a:t>
              </a:r>
              <a:r>
                <a:rPr lang="en-US" dirty="0">
                  <a:solidFill>
                    <a:srgbClr val="243F6E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(c) FF and (d) ɳ  with 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the variation of </a:t>
              </a:r>
              <a:r>
                <a:rPr lang="en-US" dirty="0">
                  <a:solidFill>
                    <a:srgbClr val="243F6E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thickness 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of CuBi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O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 for FeS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2 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layers.</a:t>
              </a:r>
              <a:endParaRPr lang="en-US" sz="1200" dirty="0">
                <a:solidFill>
                  <a:srgbClr val="243F6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F4B61C8-97BB-BA25-AB4F-F48952CDF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9981" y="2002518"/>
              <a:ext cx="4591050" cy="351472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9E8A1C2-608E-20DF-251E-E41EE9544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54914" y="2015933"/>
              <a:ext cx="4591050" cy="3514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354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F2D16DE4-7A93-D9A8-B40E-5AD5B56F1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8572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0CFE755-7E6D-EB27-E4D5-3CB7A8F15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705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7EBB0111-B356-1975-6711-480749269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7433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18D26-99ED-5424-FDFA-AD80F9398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C909-5D40-430B-A443-38B722740AA0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45221-2F8E-FB83-A7DA-F0ADC8F2B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13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04EE6CA-693F-9DF3-6D3D-E2B742BA3067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6BAA675-FC2F-445F-87AE-0F4EA0EF683E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6875E52-47E5-AE52-144A-4024B74E191D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DA532D-910A-1508-D64D-C9DFC797D97D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FD55B85F-9F30-9366-EDD6-67664370B2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A138CC0-A948-7270-C85E-AA521DBC4911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Date Placeholder 13">
            <a:extLst>
              <a:ext uri="{FF2B5EF4-FFF2-40B4-BE49-F238E27FC236}">
                <a16:creationId xmlns:a16="http://schemas.microsoft.com/office/drawing/2014/main" id="{B15D8648-7263-C255-7234-163C909B873D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14">
            <a:extLst>
              <a:ext uri="{FF2B5EF4-FFF2-40B4-BE49-F238E27FC236}">
                <a16:creationId xmlns:a16="http://schemas.microsoft.com/office/drawing/2014/main" id="{F44255A7-F1C1-635B-8E2E-7C3DC49A8991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7AE24B0-C42F-7477-6F2E-A43A5A713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509829" cy="79882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S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TRUCTURE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PTIMIZATION: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OPING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ONCENTRATION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262664-ADFE-5808-C08B-73E9ADD36BCB}"/>
              </a:ext>
            </a:extLst>
          </p:cNvPr>
          <p:cNvSpPr txBox="1"/>
          <p:nvPr/>
        </p:nvSpPr>
        <p:spPr>
          <a:xfrm>
            <a:off x="1153139" y="4985778"/>
            <a:ext cx="98756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200" baseline="-250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sz="2200" baseline="-25000" dirty="0">
                <a:solidFill>
                  <a:srgbClr val="223C6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V</a:t>
            </a:r>
            <a:r>
              <a:rPr lang="en-US" sz="2200" baseline="-250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 </a:t>
            </a:r>
            <a:r>
              <a:rPr lang="en-US" sz="2200" dirty="0">
                <a:solidFill>
                  <a:srgbClr val="223C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increase with the increment of doping concentration of 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CuBi</a:t>
            </a:r>
            <a:r>
              <a:rPr lang="en-US" sz="24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sz="24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200" baseline="-250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sz="2200" baseline="-25000" dirty="0">
                <a:solidFill>
                  <a:srgbClr val="223C6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V</a:t>
            </a:r>
            <a:r>
              <a:rPr lang="en-US" sz="2200" baseline="-250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 </a:t>
            </a:r>
            <a:r>
              <a:rPr lang="en-US" sz="2200" dirty="0">
                <a:solidFill>
                  <a:srgbClr val="223C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increase sightly with the increment of doping concentration of 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FeS</a:t>
            </a:r>
            <a:r>
              <a:rPr lang="en-US" sz="24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n-US" sz="2200" dirty="0"/>
          </a:p>
        </p:txBody>
      </p:sp>
      <p:grpSp>
        <p:nvGrpSpPr>
          <p:cNvPr id="2" name="Group 1"/>
          <p:cNvGrpSpPr/>
          <p:nvPr/>
        </p:nvGrpSpPr>
        <p:grpSpPr>
          <a:xfrm>
            <a:off x="598236" y="733213"/>
            <a:ext cx="11005590" cy="3978123"/>
            <a:chOff x="408151" y="1740298"/>
            <a:chExt cx="11005590" cy="3978123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789764C-ACC7-7EB7-8695-50EB4E543B67}"/>
                </a:ext>
              </a:extLst>
            </p:cNvPr>
            <p:cNvSpPr txBox="1"/>
            <p:nvPr/>
          </p:nvSpPr>
          <p:spPr>
            <a:xfrm>
              <a:off x="408151" y="5255024"/>
              <a:ext cx="11005590" cy="463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algn="ctr">
                <a:lnSpc>
                  <a:spcPct val="15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b="1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Figure </a:t>
              </a:r>
              <a:r>
                <a:rPr lang="en-US" b="1" dirty="0">
                  <a:solidFill>
                    <a:srgbClr val="243F6E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9</a:t>
              </a:r>
              <a:r>
                <a:rPr lang="en-US" sz="1800" b="1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: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  Effect on (a) J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SC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, (b) V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OC 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with the variation of Doping Concentration of CuBi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O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 for FeS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2 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layers</a:t>
              </a:r>
              <a:r>
                <a: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.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14B043C-49E3-3ACC-E838-567B7C8D7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5875" y="1740298"/>
              <a:ext cx="4591050" cy="351472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EB29039-DF72-6B47-A5A4-1D8C048EF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15075" y="1798727"/>
              <a:ext cx="4591050" cy="3514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711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F2D16DE4-7A93-D9A8-B40E-5AD5B56F1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8572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18D26-99ED-5424-FDFA-AD80F9398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C909-5D40-430B-A443-38B722740AA0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45221-2F8E-FB83-A7DA-F0ADC8F2B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14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04EE6CA-693F-9DF3-6D3D-E2B742BA3067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6BAA675-FC2F-445F-87AE-0F4EA0EF683E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6875E52-47E5-AE52-144A-4024B74E191D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DA532D-910A-1508-D64D-C9DFC797D97D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FD55B85F-9F30-9366-EDD6-67664370B2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A138CC0-A948-7270-C85E-AA521DBC4911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Date Placeholder 13">
            <a:extLst>
              <a:ext uri="{FF2B5EF4-FFF2-40B4-BE49-F238E27FC236}">
                <a16:creationId xmlns:a16="http://schemas.microsoft.com/office/drawing/2014/main" id="{B15D8648-7263-C255-7234-163C909B873D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14">
            <a:extLst>
              <a:ext uri="{FF2B5EF4-FFF2-40B4-BE49-F238E27FC236}">
                <a16:creationId xmlns:a16="http://schemas.microsoft.com/office/drawing/2014/main" id="{F44255A7-F1C1-635B-8E2E-7C3DC49A8991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7AE24B0-C42F-7477-6F2E-A43A5A713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509829" cy="79882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S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TRUCTURE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PTIMIZATION: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OPING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ONCENTRATION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262664-ADFE-5808-C08B-73E9ADD36BCB}"/>
              </a:ext>
            </a:extLst>
          </p:cNvPr>
          <p:cNvSpPr txBox="1"/>
          <p:nvPr/>
        </p:nvSpPr>
        <p:spPr>
          <a:xfrm>
            <a:off x="1098555" y="4952354"/>
            <a:ext cx="10004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FF</a:t>
            </a:r>
            <a:r>
              <a:rPr lang="en-US" sz="2200" baseline="-25000" dirty="0">
                <a:solidFill>
                  <a:srgbClr val="223C6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ɳ</a:t>
            </a:r>
            <a:r>
              <a:rPr lang="en-US" sz="2200" baseline="-250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223C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increase with the increment of doping concentration of 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CuBi</a:t>
            </a:r>
            <a:r>
              <a:rPr lang="en-US" sz="24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sz="24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FF</a:t>
            </a:r>
            <a:r>
              <a:rPr lang="en-US" sz="2200" baseline="-25000" dirty="0">
                <a:solidFill>
                  <a:srgbClr val="223C6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ɳ</a:t>
            </a:r>
            <a:r>
              <a:rPr lang="en-US" sz="2200" baseline="-250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223C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first remain constant with the increment of doping concentration of </a:t>
            </a:r>
            <a:r>
              <a:rPr lang="en-US" sz="24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FeS</a:t>
            </a:r>
            <a:r>
              <a:rPr lang="en-US" sz="24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n-US" sz="2200" dirty="0"/>
          </a:p>
        </p:txBody>
      </p:sp>
      <p:grpSp>
        <p:nvGrpSpPr>
          <p:cNvPr id="2" name="Group 1"/>
          <p:cNvGrpSpPr/>
          <p:nvPr/>
        </p:nvGrpSpPr>
        <p:grpSpPr>
          <a:xfrm>
            <a:off x="734139" y="798823"/>
            <a:ext cx="10733784" cy="3823988"/>
            <a:chOff x="424546" y="1917927"/>
            <a:chExt cx="10733784" cy="382398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789764C-ACC7-7EB7-8695-50EB4E543B67}"/>
                </a:ext>
              </a:extLst>
            </p:cNvPr>
            <p:cNvSpPr txBox="1"/>
            <p:nvPr/>
          </p:nvSpPr>
          <p:spPr>
            <a:xfrm>
              <a:off x="424546" y="5278518"/>
              <a:ext cx="10733784" cy="463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800"/>
                </a:spcAft>
              </a:pPr>
              <a:r>
                <a:rPr lang="en-US" sz="1800" b="1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Figure </a:t>
              </a:r>
              <a:r>
                <a:rPr lang="en-US" b="1" dirty="0">
                  <a:solidFill>
                    <a:srgbClr val="243F6E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10</a:t>
              </a:r>
              <a:r>
                <a:rPr lang="en-US" sz="1800" b="1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: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  Effect on </a:t>
              </a:r>
              <a:r>
                <a:rPr lang="en-US" dirty="0">
                  <a:solidFill>
                    <a:srgbClr val="243F6E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(c) FF and (d) ɳ  with 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the variation of Doping Concentration of CuBi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O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 for FeS</a:t>
              </a:r>
              <a:r>
                <a:rPr lang="en-US" sz="1800" baseline="-250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2 </a:t>
              </a:r>
              <a:r>
                <a:rPr lang="en-US" sz="1800" dirty="0">
                  <a:solidFill>
                    <a:srgbClr val="243F6E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layers.</a:t>
              </a:r>
              <a:endParaRPr lang="en-US" sz="1200" dirty="0">
                <a:solidFill>
                  <a:srgbClr val="243F6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99F9CA2-699D-5241-146E-C7D33E0B4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5875" y="1956747"/>
              <a:ext cx="4591050" cy="351472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1669BD8-8A79-F97D-D506-DAB751827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77000" y="1917927"/>
              <a:ext cx="4591050" cy="3514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991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E553FA-94C6-6767-C1A9-683B6F2DF7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8192936"/>
              </p:ext>
            </p:extLst>
          </p:nvPr>
        </p:nvGraphicFramePr>
        <p:xfrm>
          <a:off x="722086" y="2202908"/>
          <a:ext cx="4645044" cy="304146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67558">
                  <a:extLst>
                    <a:ext uri="{9D8B030D-6E8A-4147-A177-3AD203B41FA5}">
                      <a16:colId xmlns:a16="http://schemas.microsoft.com/office/drawing/2014/main" val="3824641367"/>
                    </a:ext>
                  </a:extLst>
                </a:gridCol>
                <a:gridCol w="3177486">
                  <a:extLst>
                    <a:ext uri="{9D8B030D-6E8A-4147-A177-3AD203B41FA5}">
                      <a16:colId xmlns:a16="http://schemas.microsoft.com/office/drawing/2014/main" val="2663666507"/>
                    </a:ext>
                  </a:extLst>
                </a:gridCol>
              </a:tblGrid>
              <a:tr h="7436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</a:t>
                      </a:r>
                      <a:endParaRPr lang="en-US" sz="2200" b="1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243F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Thickness (μm)</a:t>
                      </a:r>
                      <a:endParaRPr lang="en-US" sz="2200" b="1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243F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344000"/>
                  </a:ext>
                </a:extLst>
              </a:tr>
              <a:tr h="7486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GaAs</a:t>
                      </a:r>
                      <a:endParaRPr lang="en-US" sz="22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22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046212"/>
                  </a:ext>
                </a:extLst>
              </a:tr>
              <a:tr h="7486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FeS</a:t>
                      </a:r>
                      <a:r>
                        <a:rPr lang="en-US" sz="2200" baseline="-25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2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22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595818"/>
                  </a:ext>
                </a:extLst>
              </a:tr>
              <a:tr h="8004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CuBi</a:t>
                      </a:r>
                      <a:r>
                        <a:rPr lang="en-US" sz="2200" baseline="-2500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20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sz="2200" baseline="-2500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20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22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7141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FE337FD-3F01-6855-5108-F231B7C90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24856"/>
              </p:ext>
            </p:extLst>
          </p:nvPr>
        </p:nvGraphicFramePr>
        <p:xfrm>
          <a:off x="6001660" y="2208011"/>
          <a:ext cx="5713268" cy="304146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88336">
                  <a:extLst>
                    <a:ext uri="{9D8B030D-6E8A-4147-A177-3AD203B41FA5}">
                      <a16:colId xmlns:a16="http://schemas.microsoft.com/office/drawing/2014/main" val="474215684"/>
                    </a:ext>
                  </a:extLst>
                </a:gridCol>
                <a:gridCol w="2138932">
                  <a:extLst>
                    <a:ext uri="{9D8B030D-6E8A-4147-A177-3AD203B41FA5}">
                      <a16:colId xmlns:a16="http://schemas.microsoft.com/office/drawing/2014/main" val="407495652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220052081"/>
                    </a:ext>
                  </a:extLst>
                </a:gridCol>
              </a:tblGrid>
              <a:tr h="10619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</a:t>
                      </a:r>
                      <a:endParaRPr lang="en-US" sz="2200" b="1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243F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Donor Doping Density (cm</a:t>
                      </a:r>
                      <a:r>
                        <a:rPr lang="en-US" sz="2200" b="1" baseline="30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r>
                        <a:rPr lang="en-US" sz="22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200" b="1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243F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Acceptor Doping Density (cm</a:t>
                      </a:r>
                      <a:r>
                        <a:rPr lang="en-US" sz="2200" b="1" baseline="30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r>
                        <a:rPr lang="en-US" sz="22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200" b="1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243F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610088"/>
                  </a:ext>
                </a:extLst>
              </a:tr>
              <a:tr h="7056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GaAs</a:t>
                      </a:r>
                      <a:endParaRPr lang="en-US" sz="22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sz="2200" baseline="30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sz="22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2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84705"/>
                  </a:ext>
                </a:extLst>
              </a:tr>
              <a:tr h="6234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FeS</a:t>
                      </a:r>
                      <a:r>
                        <a:rPr lang="en-US" sz="2200" baseline="-25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2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sz="2200" baseline="30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sz="22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2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877163"/>
                  </a:ext>
                </a:extLst>
              </a:tr>
              <a:tr h="6504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CuBi</a:t>
                      </a:r>
                      <a:r>
                        <a:rPr lang="en-US" sz="2200" baseline="-25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2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200" baseline="-25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2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3.7×10</a:t>
                      </a:r>
                      <a:r>
                        <a:rPr lang="en-US" sz="2200" baseline="30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sz="22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2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853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280EAD2-6866-963C-6068-776E8A7DE520}"/>
              </a:ext>
            </a:extLst>
          </p:cNvPr>
          <p:cNvSpPr txBox="1"/>
          <p:nvPr/>
        </p:nvSpPr>
        <p:spPr>
          <a:xfrm>
            <a:off x="5910946" y="1020272"/>
            <a:ext cx="4826239" cy="966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Table 2: </a:t>
            </a:r>
            <a:r>
              <a:rPr lang="en-US" sz="2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Optimum Doping Profile for Proposed Structure.</a:t>
            </a:r>
            <a:endParaRPr lang="en-US" sz="2000" dirty="0">
              <a:solidFill>
                <a:srgbClr val="243F6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F8FCF1-3AB3-984B-33E3-520A7541D866}"/>
              </a:ext>
            </a:extLst>
          </p:cNvPr>
          <p:cNvSpPr txBox="1"/>
          <p:nvPr/>
        </p:nvSpPr>
        <p:spPr>
          <a:xfrm>
            <a:off x="297660" y="1020272"/>
            <a:ext cx="5177258" cy="966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Table 1: </a:t>
            </a:r>
            <a:r>
              <a:rPr lang="en-US" sz="2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Optimum Layer Thickness for Proposed Structure.</a:t>
            </a:r>
            <a:endParaRPr lang="en-US" sz="2000" dirty="0">
              <a:solidFill>
                <a:srgbClr val="243F6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15301-9356-E1AE-FA47-2C60FBAD5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EE367-281F-4AC8-B914-6EE42D79A38C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8489D-2A44-C584-E9E0-3ED8EF50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15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6F27BF-1CE9-2B40-1811-0C48CDF53209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8A71E5-EF23-FF86-C042-C28318E64E57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408B031-262E-EA3B-BF18-1E456C0EF628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DE5D58-82AC-4F0D-5170-0CFD8AE7F6F9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E30C35D0-5532-0082-D0AA-1BD4401E44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B515388-47C9-155D-7F0C-29DA69ED91CD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66AF5A9-A70A-7CF4-683D-4DEB7565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509829" cy="79882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S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TRUCTURE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PTIMIZATION</a:t>
            </a:r>
          </a:p>
        </p:txBody>
      </p:sp>
      <p:sp>
        <p:nvSpPr>
          <p:cNvPr id="20" name="Date Placeholder 13">
            <a:extLst>
              <a:ext uri="{FF2B5EF4-FFF2-40B4-BE49-F238E27FC236}">
                <a16:creationId xmlns:a16="http://schemas.microsoft.com/office/drawing/2014/main" id="{D5DD85AB-F9E7-9F68-F69D-0BAE8F98F255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lide Number Placeholder 14">
            <a:extLst>
              <a:ext uri="{FF2B5EF4-FFF2-40B4-BE49-F238E27FC236}">
                <a16:creationId xmlns:a16="http://schemas.microsoft.com/office/drawing/2014/main" id="{20A8CA85-28D7-E3F9-B4F4-9195A192E01C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95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F2174F1-C3CD-EA93-0FAA-81072D352E1C}"/>
              </a:ext>
            </a:extLst>
          </p:cNvPr>
          <p:cNvSpPr txBox="1"/>
          <p:nvPr/>
        </p:nvSpPr>
        <p:spPr>
          <a:xfrm>
            <a:off x="376082" y="5384913"/>
            <a:ext cx="609600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Figure 5.13:</a:t>
            </a:r>
            <a:r>
              <a:rPr lang="en-US" sz="18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J-V Characteristics of Optimal Structure.</a:t>
            </a:r>
            <a:endParaRPr lang="en-US" sz="1200" dirty="0">
              <a:solidFill>
                <a:srgbClr val="243F6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4F1812D-8DEF-F18F-83B6-F190FC2A4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2" y="10858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2A439-D676-CD51-F2BE-B5D5CFD88EDC}"/>
              </a:ext>
            </a:extLst>
          </p:cNvPr>
          <p:cNvSpPr txBox="1"/>
          <p:nvPr/>
        </p:nvSpPr>
        <p:spPr>
          <a:xfrm>
            <a:off x="5845421" y="5350648"/>
            <a:ext cx="609600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18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Figure 5.3:</a:t>
            </a:r>
            <a:r>
              <a:rPr lang="en-US" sz="18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Spectral Response </a:t>
            </a:r>
            <a:r>
              <a:rPr lang="en-US" dirty="0">
                <a:solidFill>
                  <a:srgbClr val="243F6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of Optimal Structure.</a:t>
            </a:r>
            <a:endParaRPr lang="en-US" sz="1200" dirty="0">
              <a:solidFill>
                <a:srgbClr val="243F6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AEA628-7399-F2A8-14DA-DFD5C0745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4CDD8-71FE-4542-B5F9-E3F283140E05}" type="datetime1">
              <a:rPr lang="en-US" smtClean="0"/>
              <a:t>1/11/2026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389204F-F077-810E-93A8-1E538AFFE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16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A90B596-3862-6665-4BC1-E8595F33F2D7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953EA9B-BB8A-542B-BA42-1E9CD80DF530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6ACCBD4-B3F3-5BF3-BE50-251E77628203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4C54DB-0DA1-D341-D208-0045018B5959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F2EE63C4-489B-C229-8D42-C50024A6F6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F2E5F5B-1CFE-C471-5A89-48990F739171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CE3D97E-C9DF-BDB8-3D98-541C0A67B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509829" cy="79882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R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ESULT &amp;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ISCUSSION</a:t>
            </a:r>
          </a:p>
        </p:txBody>
      </p:sp>
      <p:sp>
        <p:nvSpPr>
          <p:cNvPr id="20" name="Date Placeholder 13">
            <a:extLst>
              <a:ext uri="{FF2B5EF4-FFF2-40B4-BE49-F238E27FC236}">
                <a16:creationId xmlns:a16="http://schemas.microsoft.com/office/drawing/2014/main" id="{3A8F38C4-1151-FA5B-0302-57AB3FFC8D58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lide Number Placeholder 14">
            <a:extLst>
              <a:ext uri="{FF2B5EF4-FFF2-40B4-BE49-F238E27FC236}">
                <a16:creationId xmlns:a16="http://schemas.microsoft.com/office/drawing/2014/main" id="{5D087D30-D37E-1FA8-06F7-A6F089E30490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23AA71-010C-8C5B-024A-14C4CC48FF4B}"/>
              </a:ext>
            </a:extLst>
          </p:cNvPr>
          <p:cNvSpPr txBox="1"/>
          <p:nvPr/>
        </p:nvSpPr>
        <p:spPr>
          <a:xfrm>
            <a:off x="645978" y="1263629"/>
            <a:ext cx="108899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 Circuit Voltage </a:t>
            </a: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increases </a:t>
            </a:r>
            <a:r>
              <a:rPr lang="en-US" sz="2200" dirty="0">
                <a:solidFill>
                  <a:srgbClr val="223C6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significantly in proposed dual heterojunction structure.</a:t>
            </a:r>
            <a:endParaRPr lang="en-US" sz="2400" baseline="-25000" dirty="0">
              <a:solidFill>
                <a:srgbClr val="243F6E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Quantum Efficiency </a:t>
            </a:r>
            <a:r>
              <a:rPr lang="en-US" sz="2200" dirty="0">
                <a:solidFill>
                  <a:srgbClr val="223C6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also increases </a:t>
            </a:r>
            <a:r>
              <a:rPr lang="en-US" sz="2200" dirty="0">
                <a:solidFill>
                  <a:srgbClr val="223C6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significantly in proposed dual heterojunction structure.</a:t>
            </a:r>
            <a:endParaRPr lang="en-US" sz="2400" baseline="-25000" dirty="0">
              <a:solidFill>
                <a:srgbClr val="243F6E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B523F8-213E-9D49-5968-6AF38071B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75" y="2033070"/>
            <a:ext cx="4591050" cy="35147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159B15-7860-2BEF-82D6-428A4D3AB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5983" y="1909245"/>
            <a:ext cx="47148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4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1A0AF6-0D18-4834-CE65-C05BAF876F4D}"/>
              </a:ext>
            </a:extLst>
          </p:cNvPr>
          <p:cNvSpPr txBox="1"/>
          <p:nvPr/>
        </p:nvSpPr>
        <p:spPr>
          <a:xfrm>
            <a:off x="289590" y="889997"/>
            <a:ext cx="10930647" cy="5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Table 3:</a:t>
            </a:r>
            <a:r>
              <a:rPr lang="en-US" sz="22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Device performance of the optimized FeS</a:t>
            </a:r>
            <a:r>
              <a:rPr lang="en-US" sz="2200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22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based solar cells.</a:t>
            </a:r>
            <a:endParaRPr lang="en-US" sz="2200" dirty="0">
              <a:solidFill>
                <a:srgbClr val="243F6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4C5F54-6372-7FF1-30EE-3C6AFB7D7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914338"/>
              </p:ext>
            </p:extLst>
          </p:nvPr>
        </p:nvGraphicFramePr>
        <p:xfrm>
          <a:off x="1149389" y="1596327"/>
          <a:ext cx="9893222" cy="39940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96145">
                  <a:extLst>
                    <a:ext uri="{9D8B030D-6E8A-4147-A177-3AD203B41FA5}">
                      <a16:colId xmlns:a16="http://schemas.microsoft.com/office/drawing/2014/main" val="1316917297"/>
                    </a:ext>
                  </a:extLst>
                </a:gridCol>
                <a:gridCol w="2333877">
                  <a:extLst>
                    <a:ext uri="{9D8B030D-6E8A-4147-A177-3AD203B41FA5}">
                      <a16:colId xmlns:a16="http://schemas.microsoft.com/office/drawing/2014/main" val="977605717"/>
                    </a:ext>
                  </a:extLst>
                </a:gridCol>
                <a:gridCol w="1961032">
                  <a:extLst>
                    <a:ext uri="{9D8B030D-6E8A-4147-A177-3AD203B41FA5}">
                      <a16:colId xmlns:a16="http://schemas.microsoft.com/office/drawing/2014/main" val="3816077130"/>
                    </a:ext>
                  </a:extLst>
                </a:gridCol>
                <a:gridCol w="1802168">
                  <a:extLst>
                    <a:ext uri="{9D8B030D-6E8A-4147-A177-3AD203B41FA5}">
                      <a16:colId xmlns:a16="http://schemas.microsoft.com/office/drawing/2014/main" val="1490803629"/>
                    </a:ext>
                  </a:extLst>
                </a:gridCol>
              </a:tblGrid>
              <a:tr h="9593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</a:t>
                      </a:r>
                      <a:endParaRPr lang="en-US" sz="2000" b="1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243F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FeS</a:t>
                      </a:r>
                      <a:r>
                        <a:rPr lang="en-US" sz="2000" b="1" baseline="-25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b="1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Absorber Layer</a:t>
                      </a:r>
                      <a:endParaRPr lang="en-US" sz="2000" b="1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243F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FeS</a:t>
                      </a:r>
                      <a:r>
                        <a:rPr lang="en-US" sz="2000" b="1" baseline="-25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/CuBi</a:t>
                      </a:r>
                      <a:r>
                        <a:rPr lang="en-US" sz="2000" b="1" baseline="-25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sz="2000" b="1" baseline="-25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Absorber Layer</a:t>
                      </a:r>
                      <a:endParaRPr lang="en-US" sz="2000" b="1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243F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Percentage of Increment</a:t>
                      </a:r>
                    </a:p>
                  </a:txBody>
                  <a:tcPr marL="68580" marR="68580" marT="0" marB="0">
                    <a:solidFill>
                      <a:srgbClr val="243F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850363"/>
                  </a:ext>
                </a:extLst>
              </a:tr>
              <a:tr h="62505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 Circuit Current Density, </a:t>
                      </a:r>
                      <a:r>
                        <a:rPr lang="en-US" sz="2000" b="1" dirty="0" err="1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en-US" sz="2000" b="1" baseline="-25000" dirty="0" err="1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</a:t>
                      </a:r>
                      <a:r>
                        <a:rPr lang="en-US" sz="2000" b="1" baseline="-25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(mA/cm</a:t>
                      </a:r>
                      <a:r>
                        <a:rPr lang="en-US" sz="2000" b="1" baseline="30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000" b="1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46.349</a:t>
                      </a:r>
                      <a:endParaRPr lang="en-US" sz="20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49.64</a:t>
                      </a:r>
                      <a:endParaRPr lang="en-US" sz="200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7.1</a:t>
                      </a: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979418"/>
                  </a:ext>
                </a:extLst>
              </a:tr>
              <a:tr h="44911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Circuit Voltage, </a:t>
                      </a: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2000" b="1" baseline="-25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</a:t>
                      </a: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(V)</a:t>
                      </a:r>
                      <a:endParaRPr lang="en-US" sz="2000" b="1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0.517</a:t>
                      </a:r>
                      <a:endParaRPr lang="en-US" sz="20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0.8426</a:t>
                      </a:r>
                      <a:endParaRPr lang="en-US" sz="20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63.67</a:t>
                      </a: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187659"/>
                  </a:ext>
                </a:extLst>
              </a:tr>
              <a:tr h="18628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Fill Factor, </a:t>
                      </a: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 (%)</a:t>
                      </a:r>
                      <a:endParaRPr lang="en-US" sz="2000" b="1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79.58</a:t>
                      </a:r>
                      <a:endParaRPr lang="en-US" sz="20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80.0242</a:t>
                      </a:r>
                      <a:endParaRPr lang="en-US" sz="20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0.5581</a:t>
                      </a: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928088"/>
                  </a:ext>
                </a:extLst>
              </a:tr>
              <a:tr h="44911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Efficiency, </a:t>
                      </a: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η (%)</a:t>
                      </a:r>
                      <a:endParaRPr lang="en-US" sz="2000" b="1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19.1881</a:t>
                      </a:r>
                      <a:endParaRPr lang="en-US" sz="2000" b="1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33.29</a:t>
                      </a:r>
                      <a:endParaRPr lang="en-US" sz="2000" b="1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73.493</a:t>
                      </a: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501673"/>
                  </a:ext>
                </a:extLst>
              </a:tr>
              <a:tr h="44911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Max. Voltage, </a:t>
                      </a:r>
                      <a:r>
                        <a:rPr lang="en-US" sz="2000" b="1" dirty="0" err="1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2000" b="1" baseline="-25000" dirty="0" err="1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mmp</a:t>
                      </a: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(V)</a:t>
                      </a:r>
                      <a:endParaRPr lang="en-US" sz="2000" b="1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0.442</a:t>
                      </a:r>
                      <a:endParaRPr lang="en-US" sz="20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0.703</a:t>
                      </a:r>
                      <a:endParaRPr lang="en-US" sz="20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59.049</a:t>
                      </a: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367022"/>
                  </a:ext>
                </a:extLst>
              </a:tr>
              <a:tr h="42531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Max. Current, </a:t>
                      </a:r>
                      <a:r>
                        <a:rPr lang="en-US" sz="2000" b="1" dirty="0" err="1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en-US" sz="2000" b="1" baseline="-25000" dirty="0" err="1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mmp</a:t>
                      </a: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(mA/cm</a:t>
                      </a:r>
                      <a:r>
                        <a:rPr lang="en-US" sz="2000" b="1" baseline="30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000" b="1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43.391</a:t>
                      </a:r>
                      <a:endParaRPr lang="en-US" sz="20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47.355</a:t>
                      </a:r>
                      <a:endParaRPr lang="en-US" sz="200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9.13</a:t>
                      </a:r>
                    </a:p>
                  </a:txBody>
                  <a:tcPr marL="68580" marR="68580" marT="0" marB="0"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91054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B3CF0-0736-6297-0E80-EE242F18B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C202-F0F3-4C1E-B5C6-CFE8512A9632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74D4B-FA61-3440-1F27-9C97E5459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17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F565D3D-6013-1EF5-CB63-FB6191B09085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71A3D33-05D0-1273-80AE-4DBAB64FFE2D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416E584-A4BB-DD1C-BCA8-13A800EA7BF3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50B4D8-0BC2-2C62-06CA-F460F9940354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5F53EFF-D2C2-C143-5DD9-E59358B3C6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2AF8B07-2EB8-42E7-2451-4760C10ECE22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13">
            <a:extLst>
              <a:ext uri="{FF2B5EF4-FFF2-40B4-BE49-F238E27FC236}">
                <a16:creationId xmlns:a16="http://schemas.microsoft.com/office/drawing/2014/main" id="{658D783C-6914-4490-336B-7ADC95B9E2E6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3FB3D04A-0766-5437-FC50-CECB5E3BCAD3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D62D24A-3A02-782C-F955-D7AAACF79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509829" cy="79882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R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ESULT &amp;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ISCUSSION</a:t>
            </a:r>
          </a:p>
        </p:txBody>
      </p:sp>
    </p:spTree>
    <p:extLst>
      <p:ext uri="{BB962C8B-B14F-4D97-AF65-F5344CB8AC3E}">
        <p14:creationId xmlns:p14="http://schemas.microsoft.com/office/powerpoint/2010/main" val="3914290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4F61603-CF88-3CE4-A738-65562EDAEA9E}"/>
              </a:ext>
            </a:extLst>
          </p:cNvPr>
          <p:cNvSpPr txBox="1"/>
          <p:nvPr/>
        </p:nvSpPr>
        <p:spPr>
          <a:xfrm>
            <a:off x="555927" y="934984"/>
            <a:ext cx="11070075" cy="5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Table 4: </a:t>
            </a:r>
            <a:r>
              <a:rPr lang="en-US" sz="22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Performance of the proposed solar cell in comparison with other solar cells.</a:t>
            </a:r>
            <a:endParaRPr lang="en-US" sz="2200" dirty="0">
              <a:solidFill>
                <a:srgbClr val="243F6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4476A88-7CC3-3EFF-2A52-C972B618B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082513"/>
              </p:ext>
            </p:extLst>
          </p:nvPr>
        </p:nvGraphicFramePr>
        <p:xfrm>
          <a:off x="1023260" y="1634661"/>
          <a:ext cx="10330540" cy="42191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50134">
                  <a:extLst>
                    <a:ext uri="{9D8B030D-6E8A-4147-A177-3AD203B41FA5}">
                      <a16:colId xmlns:a16="http://schemas.microsoft.com/office/drawing/2014/main" val="2000543437"/>
                    </a:ext>
                  </a:extLst>
                </a:gridCol>
                <a:gridCol w="2365697">
                  <a:extLst>
                    <a:ext uri="{9D8B030D-6E8A-4147-A177-3AD203B41FA5}">
                      <a16:colId xmlns:a16="http://schemas.microsoft.com/office/drawing/2014/main" val="2677972457"/>
                    </a:ext>
                  </a:extLst>
                </a:gridCol>
                <a:gridCol w="1222195">
                  <a:extLst>
                    <a:ext uri="{9D8B030D-6E8A-4147-A177-3AD203B41FA5}">
                      <a16:colId xmlns:a16="http://schemas.microsoft.com/office/drawing/2014/main" val="3298883447"/>
                    </a:ext>
                  </a:extLst>
                </a:gridCol>
                <a:gridCol w="1541498">
                  <a:extLst>
                    <a:ext uri="{9D8B030D-6E8A-4147-A177-3AD203B41FA5}">
                      <a16:colId xmlns:a16="http://schemas.microsoft.com/office/drawing/2014/main" val="2113785490"/>
                    </a:ext>
                  </a:extLst>
                </a:gridCol>
                <a:gridCol w="1102951">
                  <a:extLst>
                    <a:ext uri="{9D8B030D-6E8A-4147-A177-3AD203B41FA5}">
                      <a16:colId xmlns:a16="http://schemas.microsoft.com/office/drawing/2014/main" val="2107068548"/>
                    </a:ext>
                  </a:extLst>
                </a:gridCol>
                <a:gridCol w="1142817">
                  <a:extLst>
                    <a:ext uri="{9D8B030D-6E8A-4147-A177-3AD203B41FA5}">
                      <a16:colId xmlns:a16="http://schemas.microsoft.com/office/drawing/2014/main" val="2271977712"/>
                    </a:ext>
                  </a:extLst>
                </a:gridCol>
                <a:gridCol w="2005248">
                  <a:extLst>
                    <a:ext uri="{9D8B030D-6E8A-4147-A177-3AD203B41FA5}">
                      <a16:colId xmlns:a16="http://schemas.microsoft.com/office/drawing/2014/main" val="3305512235"/>
                    </a:ext>
                  </a:extLst>
                </a:gridCol>
              </a:tblGrid>
              <a:tr h="8311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No.</a:t>
                      </a:r>
                    </a:p>
                  </a:txBody>
                  <a:tcPr marL="60661" marR="60661" marT="0" marB="0">
                    <a:solidFill>
                      <a:srgbClr val="243F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Thin Film Solar Cell</a:t>
                      </a:r>
                      <a:endParaRPr lang="en-US" sz="2000" b="1" dirty="0"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243F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2000" b="1" baseline="-25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</a:t>
                      </a:r>
                      <a:endParaRPr lang="en-US" sz="2000" b="1" dirty="0"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(V)</a:t>
                      </a:r>
                      <a:endParaRPr lang="en-US" sz="2000" b="1" dirty="0"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243F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en-US" sz="2000" b="1" baseline="-25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</a:t>
                      </a:r>
                      <a:endParaRPr lang="en-US" sz="2000" b="1" dirty="0"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(mA/cm</a:t>
                      </a:r>
                      <a:r>
                        <a:rPr lang="en-US" sz="2000" b="1" baseline="30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000" b="1" dirty="0"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243F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en-US" sz="2000" b="1" dirty="0"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243F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PCE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en-US" sz="2000" b="1" dirty="0"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243F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US" sz="2000" b="1" dirty="0"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243F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93017"/>
                  </a:ext>
                </a:extLst>
              </a:tr>
              <a:tr h="4155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 (crystalline)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0.705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42.7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25.0</a:t>
                      </a:r>
                      <a:endParaRPr lang="en-US" sz="2000" b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</a:t>
                      </a:r>
                      <a:endParaRPr lang="en-US" sz="2000" b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994997"/>
                  </a:ext>
                </a:extLst>
              </a:tr>
              <a:tr h="5058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 (multi-crystalline)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0.664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37.7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78.9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20.3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</a:t>
                      </a:r>
                      <a:endParaRPr lang="en-US" sz="2000" b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316757"/>
                  </a:ext>
                </a:extLst>
              </a:tr>
              <a:tr h="4155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CIGS</a:t>
                      </a:r>
                      <a:endParaRPr lang="en-US" sz="2000" b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0.734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39.58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80.40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23.84</a:t>
                      </a:r>
                      <a:endParaRPr lang="en-US" sz="2000" b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085386"/>
                  </a:ext>
                </a:extLst>
              </a:tr>
              <a:tr h="4155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Perovskite</a:t>
                      </a:r>
                      <a:endParaRPr lang="en-US" sz="2000" b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1.18</a:t>
                      </a:r>
                      <a:endParaRPr lang="en-US" sz="2000" b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25.14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84.8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25.20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258641"/>
                  </a:ext>
                </a:extLst>
              </a:tr>
              <a:tr h="4155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CdTe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0.887</a:t>
                      </a:r>
                      <a:endParaRPr lang="en-US" sz="2000" b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31.69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78.50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22.10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709525"/>
                  </a:ext>
                </a:extLst>
              </a:tr>
              <a:tr h="5149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CZTS</a:t>
                      </a:r>
                      <a:endParaRPr lang="en-US" sz="2000" b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0.716</a:t>
                      </a:r>
                      <a:endParaRPr lang="en-US" sz="2000" b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33.7</a:t>
                      </a:r>
                      <a:endParaRPr lang="en-US" sz="2000" b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80.3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19.4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</a:t>
                      </a:r>
                      <a:endParaRPr lang="en-US" sz="2000" b="0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20981"/>
                  </a:ext>
                </a:extLst>
              </a:tr>
              <a:tr h="6765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  <a:endParaRPr lang="en-US" sz="2000" b="1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FeS</a:t>
                      </a:r>
                      <a:r>
                        <a:rPr lang="en-US" sz="2000" b="1" baseline="-25000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b="1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0.842</a:t>
                      </a:r>
                      <a:endParaRPr lang="en-US" sz="2000" b="1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49.64</a:t>
                      </a:r>
                      <a:endParaRPr lang="en-US" sz="2000" b="1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80.0242</a:t>
                      </a: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33.29</a:t>
                      </a:r>
                      <a:endParaRPr lang="en-US" sz="2000" b="1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243F6E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Theoretical</a:t>
                      </a:r>
                      <a:endParaRPr lang="en-US" sz="2000" b="1" dirty="0">
                        <a:solidFill>
                          <a:srgbClr val="243F6E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61" marR="60661" marT="0" marB="0"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693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49752-85C9-E4EC-10A3-4D32984F5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FCBFD-D769-4D6A-9C41-704547FFBBFB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6E0FF-DF28-B6CB-4C7C-29DD9A73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18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999639-E417-6F62-EF72-BA09DFF07988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52DBEA5-48CE-F5F4-4E0F-D987B5A6A3EA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1381093-ECBD-6255-2873-90AAB4475622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53A688-0AA5-482D-5B86-5D755DDCC1B6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C869A3AB-DAE0-E4C7-0DEF-068C235833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3F1CD85-8522-97C8-4F7C-E09B8FB7AABF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3BEB9EB-F408-B3D9-05C3-969019A3C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509829" cy="79882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R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ESULT &amp;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ISCUSSION</a:t>
            </a:r>
          </a:p>
        </p:txBody>
      </p:sp>
      <p:sp>
        <p:nvSpPr>
          <p:cNvPr id="17" name="Date Placeholder 13">
            <a:extLst>
              <a:ext uri="{FF2B5EF4-FFF2-40B4-BE49-F238E27FC236}">
                <a16:creationId xmlns:a16="http://schemas.microsoft.com/office/drawing/2014/main" id="{2077DC33-4B99-072B-6DA1-93226829952D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14">
            <a:extLst>
              <a:ext uri="{FF2B5EF4-FFF2-40B4-BE49-F238E27FC236}">
                <a16:creationId xmlns:a16="http://schemas.microsoft.com/office/drawing/2014/main" id="{20EEA40C-DAA8-BA11-93F8-BA3776A800DA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47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E317D-889F-C40C-1AF0-D21601FE0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397" y="3429613"/>
            <a:ext cx="11398132" cy="22863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UTURE WORKS</a:t>
            </a:r>
          </a:p>
          <a:p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future different materials can be investigated as 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BSF</a:t>
            </a: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increasing the efficiency.</a:t>
            </a:r>
            <a:endParaRPr lang="en-US" sz="2200" b="1" dirty="0">
              <a:solidFill>
                <a:srgbClr val="243F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model may be fabricated in the Laboratory in future.</a:t>
            </a:r>
          </a:p>
          <a:p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P-I-N structured </a:t>
            </a:r>
            <a:r>
              <a:rPr lang="en-US" sz="22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FeS</a:t>
            </a:r>
            <a:r>
              <a:rPr lang="en-US" sz="2200" b="1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may be designed and simulated which is unexplored.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98FA4A-90E3-5F3D-2F5C-208293793914}"/>
              </a:ext>
            </a:extLst>
          </p:cNvPr>
          <p:cNvSpPr txBox="1">
            <a:spLocks/>
          </p:cNvSpPr>
          <p:nvPr/>
        </p:nvSpPr>
        <p:spPr>
          <a:xfrm>
            <a:off x="533400" y="415635"/>
            <a:ext cx="11125200" cy="837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4D48B1D-A73C-DC9D-194B-2644859D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947C-CDFE-4349-93E0-8998F701B495}" type="datetime1">
              <a:rPr lang="en-US" smtClean="0"/>
              <a:t>1/11/2026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D9C1C-A9DF-EC9C-49CF-A0C0547E5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19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9483898-FE3B-0CE8-4E25-DEA27B999C93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425F0E-D480-28A5-7B4B-40A12C659D5B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5A994A9-C423-E78E-59C2-EC05A9215668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683E50-4C54-0D17-3E2B-403E618031D4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2" name="Graphic 11">
                <a:extLst>
                  <a:ext uri="{FF2B5EF4-FFF2-40B4-BE49-F238E27FC236}">
                    <a16:creationId xmlns:a16="http://schemas.microsoft.com/office/drawing/2014/main" id="{89F3CFFD-F05A-F715-112E-C4AAC3D3D3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3A66BBC-F8EE-FD9B-C03E-44786074615B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7AE7C19-3C8B-BA05-989E-D67C1C90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509829" cy="79882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C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ONCLUSION &amp;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UTURE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ORKS</a:t>
            </a:r>
          </a:p>
        </p:txBody>
      </p:sp>
      <p:sp>
        <p:nvSpPr>
          <p:cNvPr id="15" name="Date Placeholder 13">
            <a:extLst>
              <a:ext uri="{FF2B5EF4-FFF2-40B4-BE49-F238E27FC236}">
                <a16:creationId xmlns:a16="http://schemas.microsoft.com/office/drawing/2014/main" id="{BF4B64B8-CC6D-7438-8A8F-0FC02560876A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14">
            <a:extLst>
              <a:ext uri="{FF2B5EF4-FFF2-40B4-BE49-F238E27FC236}">
                <a16:creationId xmlns:a16="http://schemas.microsoft.com/office/drawing/2014/main" id="{E2B25DD3-F97E-BCC1-C8BB-42613940F050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CE85C8-819C-FCD0-902F-40382A0EE061}"/>
              </a:ext>
            </a:extLst>
          </p:cNvPr>
          <p:cNvSpPr txBox="1"/>
          <p:nvPr/>
        </p:nvSpPr>
        <p:spPr>
          <a:xfrm>
            <a:off x="312819" y="1270473"/>
            <a:ext cx="1160842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ONCLUSION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Various </a:t>
            </a:r>
            <a:r>
              <a:rPr lang="en-US" sz="220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defects like </a:t>
            </a: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defect, surface recombination etc. will minimize the efficiency. 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200" b="1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70-80%</a:t>
            </a:r>
            <a:r>
              <a:rPr lang="en-US" sz="22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simulated result can be found  that will be a breakthrough.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FeS</a:t>
            </a:r>
            <a:r>
              <a:rPr lang="en-US" sz="2200" b="1" baseline="-250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lang="en-US" sz="2200" dirty="0">
                <a:solidFill>
                  <a:srgbClr val="243F6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used as best candidate for absorber using a suitable BSF layer with suitable band alignment.</a:t>
            </a:r>
          </a:p>
        </p:txBody>
      </p:sp>
    </p:spTree>
    <p:extLst>
      <p:ext uri="{BB962C8B-B14F-4D97-AF65-F5344CB8AC3E}">
        <p14:creationId xmlns:p14="http://schemas.microsoft.com/office/powerpoint/2010/main" val="255373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83F73-5FB1-8FFD-4D1F-6DEB79856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155" y="983743"/>
            <a:ext cx="11345751" cy="4826657"/>
          </a:xfrm>
        </p:spPr>
        <p:txBody>
          <a:bodyPr>
            <a:normAutofit lnSpcReduction="10000"/>
          </a:bodyPr>
          <a:lstStyle/>
          <a:p>
            <a:pPr marL="0" indent="0" algn="just">
              <a:spcBef>
                <a:spcPts val="800"/>
              </a:spcBef>
              <a:buNone/>
            </a:pPr>
            <a:r>
              <a:rPr lang="en-SG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F.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Baig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Y.H. Khattak, S. Ullah, B.M.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Soucase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 Beg, H. Ullah, Numerical analysis a guide to improve the efficiency of experimentally designed solar cell, Appl. Phys. A. 124 (2018) 471. doi:10.1007/s00339-018-1877-x.</a:t>
            </a:r>
          </a:p>
          <a:p>
            <a:pPr marL="0" indent="0" algn="just">
              <a:spcBef>
                <a:spcPts val="800"/>
              </a:spcBef>
              <a:buNone/>
            </a:pP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Limpinsel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M., Farhi, N., Berry, N.,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Lindemuth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J., Perkins, C.L., Lin, Q., and Law, M. (2014). An inversion layer at the surface of n-type iron pyrite. Energy Environ. Sci. 7,</a:t>
            </a:r>
          </a:p>
          <a:p>
            <a:pPr marL="0" indent="0" algn="just">
              <a:spcBef>
                <a:spcPts val="800"/>
              </a:spcBef>
              <a:buNone/>
            </a:pP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1974.</a:t>
            </a:r>
          </a:p>
          <a:p>
            <a:pPr marL="0" indent="0" algn="just">
              <a:spcBef>
                <a:spcPts val="800"/>
              </a:spcBef>
              <a:buNone/>
            </a:pP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Caba´ n-Acevedo, M., Kaiser, N.S., English, C.R., Liang, D., Thompson, B.J., Chen, H.E., Czech, K.J., Wright, J.C.,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Hamers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R.J., and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Jin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 (2014). Ionization of high-density deep donor defect states explains the low photovoltage of iron pyrite single crystals. J. Am. Chem. Soc. 136, 17163–17179.</a:t>
            </a:r>
          </a:p>
          <a:p>
            <a:pPr marL="0" indent="0" algn="just">
              <a:spcBef>
                <a:spcPts val="800"/>
              </a:spcBef>
              <a:buNone/>
            </a:pP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Wang, F.;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Septina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W.;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Chemseddine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A.; Abdi, F. F.; Friedrich, D.;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Bogdanoff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P.; van de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Krol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R.; Tilley, S. D.; Berglund, S. P. Gradient Self-Doped CuBi2O4 with Highly Improved Charge Separation Efficiency. J. Am. Chem. Soc. 2017, 139 (42), 15094− 15103.</a:t>
            </a:r>
          </a:p>
          <a:p>
            <a:pPr marL="0" indent="0" algn="just">
              <a:spcBef>
                <a:spcPts val="800"/>
              </a:spcBef>
              <a:buNone/>
            </a:pP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J. Yin et al., “Charge redistribution at GaAs/P3HT heterointerfaces with different surface polarity,” J. Phys. Chem. Lett., vol. 4, no. 19, pp. 3303–3309, 2013.</a:t>
            </a:r>
          </a:p>
          <a:p>
            <a:pPr marL="0" indent="0" algn="just">
              <a:spcBef>
                <a:spcPts val="800"/>
              </a:spcBef>
              <a:buNone/>
            </a:pP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Ennaoui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Fiechter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S.,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Pettenkofer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C., Alonso-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Vante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N., Bu¨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K.,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Bronold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M.,</a:t>
            </a:r>
          </a:p>
          <a:p>
            <a:pPr marL="0" indent="0" algn="just">
              <a:spcBef>
                <a:spcPts val="800"/>
              </a:spcBef>
              <a:buNone/>
            </a:pP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Ho¨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pfner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C., and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Tributsch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H. (1993). Iron disulfide for solar energy conversion. Sol. Energy Mater. Sol. Cells 29, 289–370. 2.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Ennaoui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and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Tributsch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H. (1984). Iron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sulphide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solar cells. Sol. Cells 13, 197–200.</a:t>
            </a:r>
          </a:p>
          <a:p>
            <a:pPr marL="0" indent="0" algn="just">
              <a:spcBef>
                <a:spcPts val="800"/>
              </a:spcBef>
              <a:buNone/>
            </a:pP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Hossain, J., Mondal, B.K. and </a:t>
            </a:r>
            <a:r>
              <a:rPr lang="en-US" sz="1600" dirty="0" err="1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Mostaque</a:t>
            </a: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S.K., 2021. Design of a highly efficient FeS2-based dual-heterojunction thin film solar cell. International Journal of Green Energy, pp.1-12.</a:t>
            </a:r>
          </a:p>
          <a:p>
            <a:pPr marL="0" indent="0" algn="just">
              <a:spcBef>
                <a:spcPts val="800"/>
              </a:spcBef>
              <a:buNone/>
            </a:pPr>
            <a:r>
              <a:rPr lang="en-US" sz="1600" dirty="0">
                <a:solidFill>
                  <a:srgbClr val="24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Hosen, A., Mian, M. and Ahmed, S.R.A., 2021. Simulating the performance of a highly efficient CuBi2O4-based thin-film solar cell. SN Applied Sciences, 3(5), pp.1-13.</a:t>
            </a:r>
          </a:p>
          <a:p>
            <a:pPr marL="0" indent="0" algn="just">
              <a:spcBef>
                <a:spcPts val="800"/>
              </a:spcBef>
              <a:buNone/>
            </a:pPr>
            <a:endParaRPr lang="en-US" sz="1600" dirty="0"/>
          </a:p>
          <a:p>
            <a:pPr marL="0" indent="0">
              <a:buNone/>
            </a:pPr>
            <a:endParaRPr lang="en-SG" sz="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D103AA-F234-8787-04AA-DCD474565F80}"/>
              </a:ext>
            </a:extLst>
          </p:cNvPr>
          <p:cNvSpPr txBox="1">
            <a:spLocks/>
          </p:cNvSpPr>
          <p:nvPr/>
        </p:nvSpPr>
        <p:spPr>
          <a:xfrm>
            <a:off x="533400" y="415635"/>
            <a:ext cx="11125200" cy="837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037225-67B8-0FFA-F451-43FF2A94B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43FE-6878-48BC-8712-C262A7DCBDB1}" type="datetime1">
              <a:rPr lang="en-US" smtClean="0"/>
              <a:t>1/11/2026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B219C-D2E6-F232-5DDC-57DA14B6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20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0A25C0-ABBE-30B4-830D-D33B5534FE2F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5ADA20-9119-EC0F-FE66-F62E05E640AE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2196DB9-FA6E-F476-F7D4-A93B56199A64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D4A72B-CF2F-6929-95B4-91751587613C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58B82C16-C3FF-96D5-7A4A-670E2F9C50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E61973F-5D66-47B6-8742-BDE9B201C02F}"/>
              </a:ext>
            </a:extLst>
          </p:cNvPr>
          <p:cNvSpPr/>
          <p:nvPr/>
        </p:nvSpPr>
        <p:spPr>
          <a:xfrm rot="10800000">
            <a:off x="0" y="0"/>
            <a:ext cx="12202063" cy="7988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8000">
                <a:schemeClr val="accent1">
                  <a:alpha val="93000"/>
                  <a:lumMod val="55000"/>
                </a:schemeClr>
              </a:gs>
              <a:gs pos="100000">
                <a:schemeClr val="accent1">
                  <a:alpha val="91000"/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>
              <a:schemeClr val="accent1">
                <a:alpha val="74000"/>
              </a:schemeClr>
            </a:glow>
            <a:outerShdw blurRad="50800" dist="50800" dir="5400000" algn="ctr" rotWithShape="0">
              <a:srgbClr val="000000">
                <a:alpha val="42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3CCFE64-6248-55F0-55F7-0477F7B1C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509829" cy="79882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EFERENCE</a:t>
            </a:r>
          </a:p>
        </p:txBody>
      </p:sp>
      <p:sp>
        <p:nvSpPr>
          <p:cNvPr id="18" name="Date Placeholder 13">
            <a:extLst>
              <a:ext uri="{FF2B5EF4-FFF2-40B4-BE49-F238E27FC236}">
                <a16:creationId xmlns:a16="http://schemas.microsoft.com/office/drawing/2014/main" id="{D16DCD6E-F2BA-6D59-74A1-00E5AC0210CB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14">
            <a:extLst>
              <a:ext uri="{FF2B5EF4-FFF2-40B4-BE49-F238E27FC236}">
                <a16:creationId xmlns:a16="http://schemas.microsoft.com/office/drawing/2014/main" id="{E5E56C4C-7C8A-1D42-CB13-D3ED076A9C90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97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B4C50-5D54-7945-62FA-290ED43EB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898" y="2511510"/>
            <a:ext cx="10108096" cy="10305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HANK </a:t>
            </a:r>
            <a:r>
              <a:rPr lang="en-US" sz="5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E46C5-90CB-8C0B-9513-033921235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13130-D7F0-442A-BE91-F1768B503CEA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614DF-A7A1-1081-B104-C5E89668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21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4C08DA-28FE-BAC3-AB0D-1AE0EC8F782B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800F71-100F-C519-9DA5-55A4D66244D3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85AAA1B-364E-01C1-7797-90A51EF376BA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E0FE71-219B-F757-CCD8-3511DAFD531F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4E2C0852-4ED4-D02F-68AF-31E488C027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12" name="Date Placeholder 13">
            <a:extLst>
              <a:ext uri="{FF2B5EF4-FFF2-40B4-BE49-F238E27FC236}">
                <a16:creationId xmlns:a16="http://schemas.microsoft.com/office/drawing/2014/main" id="{02A87312-C0EB-254C-FAD7-37B09ECD055F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4">
            <a:extLst>
              <a:ext uri="{FF2B5EF4-FFF2-40B4-BE49-F238E27FC236}">
                <a16:creationId xmlns:a16="http://schemas.microsoft.com/office/drawing/2014/main" id="{C45780D8-1672-7BCD-59F4-99AE1C7122A3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12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B4C50-5D54-7945-62FA-290ED43EB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898" y="2511510"/>
            <a:ext cx="10108096" cy="10305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5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48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E46C5-90CB-8C0B-9513-033921235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13130-D7F0-442A-BE91-F1768B503CEA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614DF-A7A1-1081-B104-C5E89668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57B4-B937-4672-8679-AFEDB5DBF6E5}" type="slidenum">
              <a:rPr lang="en-US" smtClean="0"/>
              <a:t>22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4C08DA-28FE-BAC3-AB0D-1AE0EC8F782B}"/>
              </a:ext>
            </a:extLst>
          </p:cNvPr>
          <p:cNvGrpSpPr/>
          <p:nvPr/>
        </p:nvGrpSpPr>
        <p:grpSpPr>
          <a:xfrm>
            <a:off x="-10066" y="6059178"/>
            <a:ext cx="12202063" cy="798822"/>
            <a:chOff x="609126" y="3208118"/>
            <a:chExt cx="12202063" cy="78229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800F71-100F-C519-9DA5-55A4D66244D3}"/>
                </a:ext>
              </a:extLst>
            </p:cNvPr>
            <p:cNvSpPr/>
            <p:nvPr/>
          </p:nvSpPr>
          <p:spPr>
            <a:xfrm rot="10800000">
              <a:off x="609126" y="3208118"/>
              <a:ext cx="12202063" cy="7822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48000">
                  <a:schemeClr val="accent1">
                    <a:alpha val="93000"/>
                    <a:lumMod val="55000"/>
                  </a:schemeClr>
                </a:gs>
                <a:gs pos="100000">
                  <a:schemeClr val="accent1">
                    <a:alpha val="91000"/>
                    <a:lumMod val="6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>
                <a:schemeClr val="accent1">
                  <a:alpha val="74000"/>
                </a:schemeClr>
              </a:glow>
              <a:outerShdw blurRad="50800" dist="50800" dir="5400000" algn="ctr" rotWithShape="0">
                <a:srgbClr val="000000">
                  <a:alpha val="42000"/>
                </a:srgb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85AAA1B-364E-01C1-7797-90A51EF376BA}"/>
                </a:ext>
              </a:extLst>
            </p:cNvPr>
            <p:cNvGrpSpPr/>
            <p:nvPr/>
          </p:nvGrpSpPr>
          <p:grpSpPr>
            <a:xfrm>
              <a:off x="3505481" y="3297406"/>
              <a:ext cx="8936389" cy="632962"/>
              <a:chOff x="216836" y="3374177"/>
              <a:chExt cx="8936389" cy="63296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E0FE71-219B-F757-CCD8-3511DAFD531F}"/>
                  </a:ext>
                </a:extLst>
              </p:cNvPr>
              <p:cNvSpPr txBox="1"/>
              <p:nvPr/>
            </p:nvSpPr>
            <p:spPr>
              <a:xfrm>
                <a:off x="216836" y="3374177"/>
                <a:ext cx="8382530" cy="63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Electrical and Electronic Engineering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of Engineering and Technology</a:t>
                </a:r>
              </a:p>
              <a:p>
                <a:pPr algn="r"/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University of Dhaka</a:t>
                </a: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4E2C0852-4ED4-D02F-68AF-31E488C027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8428" y="3418233"/>
                <a:ext cx="444797" cy="588906"/>
              </a:xfrm>
              <a:prstGeom prst="rect">
                <a:avLst/>
              </a:prstGeom>
            </p:spPr>
          </p:pic>
        </p:grpSp>
      </p:grpSp>
      <p:sp>
        <p:nvSpPr>
          <p:cNvPr id="12" name="Date Placeholder 13">
            <a:extLst>
              <a:ext uri="{FF2B5EF4-FFF2-40B4-BE49-F238E27FC236}">
                <a16:creationId xmlns:a16="http://schemas.microsoft.com/office/drawing/2014/main" id="{02A87312-C0EB-254C-FAD7-37B09ECD055F}"/>
              </a:ext>
            </a:extLst>
          </p:cNvPr>
          <p:cNvSpPr txBox="1">
            <a:spLocks/>
          </p:cNvSpPr>
          <p:nvPr/>
        </p:nvSpPr>
        <p:spPr>
          <a:xfrm>
            <a:off x="424546" y="6335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F535C-26E3-48FC-898D-61127828DEBC}" type="datetime1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1/11/2026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4">
            <a:extLst>
              <a:ext uri="{FF2B5EF4-FFF2-40B4-BE49-F238E27FC236}">
                <a16:creationId xmlns:a16="http://schemas.microsoft.com/office/drawing/2014/main" id="{C45780D8-1672-7BCD-59F4-99AE1C7122A3}"/>
              </a:ext>
            </a:extLst>
          </p:cNvPr>
          <p:cNvSpPr txBox="1">
            <a:spLocks/>
          </p:cNvSpPr>
          <p:nvPr/>
        </p:nvSpPr>
        <p:spPr>
          <a:xfrm>
            <a:off x="3167746" y="63352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FB57B4-B937-4672-8679-AFEDB5DBF6E5}" type="slidenum">
              <a:rPr lang="en-US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04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1774</TotalTime>
  <Words>2198</Words>
  <Application>Microsoft Office PowerPoint</Application>
  <PresentationFormat>Widescreen</PresentationFormat>
  <Paragraphs>427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    THIN-FILM SOLAR CELL  (TFSC)</vt:lpstr>
      <vt:lpstr>PowerPoint Presentation</vt:lpstr>
      <vt:lpstr>PowerPoint Presentation</vt:lpstr>
      <vt:lpstr>PowerPoint Presentation</vt:lpstr>
      <vt:lpstr>PowerPoint Presentation</vt:lpstr>
      <vt:lpstr>    PROPOSED STRUCTURE</vt:lpstr>
      <vt:lpstr>    MATERIALS &amp; METHODOLOGY</vt:lpstr>
      <vt:lpstr>    ALGORITHM</vt:lpstr>
      <vt:lpstr>    STRUCTURE OPTIMIZATION: THICKNESS</vt:lpstr>
      <vt:lpstr>    STRUCTURE OPTIMIZATION: THICKNESS</vt:lpstr>
      <vt:lpstr>    STRUCTURE OPTIMIZATION: DOPING CONCENTRATION</vt:lpstr>
      <vt:lpstr>    STRUCTURE OPTIMIZATION: DOPING CONCENTRATION</vt:lpstr>
      <vt:lpstr>    STRUCTURE OPTIMIZATION</vt:lpstr>
      <vt:lpstr>    RESULT &amp; DISCUSSION</vt:lpstr>
      <vt:lpstr>    RESULT &amp; DISCUSSION</vt:lpstr>
      <vt:lpstr>    RESULT &amp; DISCUSSION</vt:lpstr>
      <vt:lpstr>    CONCLUSION &amp; FUTURE WORKS</vt:lpstr>
      <vt:lpstr>    REFERENCE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Md. Shah Kamal</cp:lastModifiedBy>
  <cp:revision>128</cp:revision>
  <dcterms:created xsi:type="dcterms:W3CDTF">2022-06-03T19:12:08Z</dcterms:created>
  <dcterms:modified xsi:type="dcterms:W3CDTF">2026-01-11T17:03:03Z</dcterms:modified>
</cp:coreProperties>
</file>